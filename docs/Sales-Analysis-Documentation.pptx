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1drv.ms/x/c/5c96de2b5cf375c8/IQBf8R42OebgSb2fUt9Q7SRJAdcinKj4oXlFcO8hkwxdgyE?e=rtabHb"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1drv.ms/x/c/5c96de2b5cf375c8/IQBf8R42OebgSb2fUt9Q7SRJAdcinKj4oXlFcO8hkwxdgyE?e=rtabHb"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822960"/>
            <a:ext cx="457200" cy="73152"/>
          </a:xfrm>
          <a:prstGeom prst="rect">
            <a:avLst/>
          </a:prstGeom>
          <a:solidFill>
            <a:srgbClr val="D960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0058400" cy="457200"/>
          </a:xfrm>
          <a:prstGeom prst="rect">
            <a:avLst/>
          </a:prstGeom>
          <a:noFill/>
        </p:spPr>
        <p:txBody>
          <a:bodyPr wrap="square" anchor="t" lIns="0" rIns="0" tIns="0" bIns="0">
            <a:spAutoFit/>
          </a:bodyPr>
          <a:lstStyle/>
          <a:p>
            <a:pPr algn="l"/>
            <a:r>
              <a:rPr sz="1200" b="1">
                <a:solidFill>
                  <a:srgbClr val="D9603F"/>
                </a:solidFill>
                <a:latin typeface="Calibri"/>
              </a:rPr>
              <a:t>SALES ANALYSIS</a:t>
            </a:r>
          </a:p>
        </p:txBody>
      </p:sp>
      <p:sp>
        <p:nvSpPr>
          <p:cNvPr id="5" name="TextBox 4"/>
          <p:cNvSpPr txBox="1"/>
          <p:nvPr/>
        </p:nvSpPr>
        <p:spPr>
          <a:xfrm>
            <a:off x="548640" y="1828800"/>
            <a:ext cx="10972800" cy="1828800"/>
          </a:xfrm>
          <a:prstGeom prst="rect">
            <a:avLst/>
          </a:prstGeom>
          <a:noFill/>
        </p:spPr>
        <p:txBody>
          <a:bodyPr wrap="square" anchor="t" lIns="0" rIns="0" tIns="0" bIns="0">
            <a:spAutoFit/>
          </a:bodyPr>
          <a:lstStyle/>
          <a:p>
            <a:pPr algn="l"/>
            <a:r>
              <a:rPr sz="5400" b="1">
                <a:solidFill>
                  <a:srgbClr val="FFFFFF"/>
                </a:solidFill>
                <a:latin typeface="Georgia"/>
              </a:rPr>
              <a:t>Sales data,
turned into decisions.</a:t>
            </a:r>
          </a:p>
        </p:txBody>
      </p:sp>
      <p:sp>
        <p:nvSpPr>
          <p:cNvPr id="6" name="Rectangle 5"/>
          <p:cNvSpPr/>
          <p:nvPr/>
        </p:nvSpPr>
        <p:spPr>
          <a:xfrm>
            <a:off x="548640" y="4023360"/>
            <a:ext cx="1828800" cy="36576"/>
          </a:xfrm>
          <a:prstGeom prst="rect">
            <a:avLst/>
          </a:prstGeom>
          <a:solidFill>
            <a:srgbClr val="D960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297680"/>
            <a:ext cx="10058400" cy="548640"/>
          </a:xfrm>
          <a:prstGeom prst="rect">
            <a:avLst/>
          </a:prstGeom>
          <a:noFill/>
        </p:spPr>
        <p:txBody>
          <a:bodyPr wrap="square" anchor="t" lIns="0" rIns="0" tIns="0" bIns="0">
            <a:spAutoFit/>
          </a:bodyPr>
          <a:lstStyle/>
          <a:p>
            <a:pPr algn="l"/>
            <a:r>
              <a:rPr sz="1800" b="0">
                <a:solidFill>
                  <a:srgbClr val="F4F1EA"/>
                </a:solidFill>
                <a:latin typeface="Calibri"/>
              </a:rPr>
              <a:t>Full year 2021 sales performance review</a:t>
            </a:r>
          </a:p>
        </p:txBody>
      </p:sp>
      <p:sp>
        <p:nvSpPr>
          <p:cNvPr id="8" name="TextBox 7"/>
          <p:cNvSpPr txBox="1"/>
          <p:nvPr/>
        </p:nvSpPr>
        <p:spPr>
          <a:xfrm>
            <a:off x="548640" y="4663440"/>
            <a:ext cx="10058400" cy="457200"/>
          </a:xfrm>
          <a:prstGeom prst="rect">
            <a:avLst/>
          </a:prstGeom>
          <a:noFill/>
        </p:spPr>
        <p:txBody>
          <a:bodyPr wrap="square" anchor="t" lIns="0" rIns="0" tIns="0" bIns="0">
            <a:spAutoFit/>
          </a:bodyPr>
          <a:lstStyle/>
          <a:p>
            <a:pPr algn="l"/>
            <a:r>
              <a:rPr sz="1400" b="0">
                <a:solidFill>
                  <a:srgbClr val="C2A046"/>
                </a:solidFill>
                <a:latin typeface="Calibri"/>
              </a:rPr>
              <a:t>$985K revenue · 832 transactions · 40 customers · 15 countries</a:t>
            </a:r>
          </a:p>
        </p:txBody>
      </p:sp>
      <p:sp>
        <p:nvSpPr>
          <p:cNvPr id="9" name="TextBox 8"/>
          <p:cNvSpPr txBox="1"/>
          <p:nvPr/>
        </p:nvSpPr>
        <p:spPr>
          <a:xfrm>
            <a:off x="548640" y="6035040"/>
            <a:ext cx="10058400" cy="365760"/>
          </a:xfrm>
          <a:prstGeom prst="rect">
            <a:avLst/>
          </a:prstGeom>
          <a:noFill/>
        </p:spPr>
        <p:txBody>
          <a:bodyPr wrap="square" anchor="t" lIns="0" rIns="0" tIns="0" bIns="0">
            <a:spAutoFit/>
          </a:bodyPr>
          <a:lstStyle/>
          <a:p>
            <a:pPr algn="l"/>
            <a:r>
              <a:rPr sz="1100" b="0">
                <a:solidFill>
                  <a:srgbClr val="4A5460"/>
                </a:solidFill>
                <a:latin typeface="Calibri"/>
              </a:rPr>
              <a:t>Prepared by Bih Brandy  ·  Business Intelligence Analyst</a:t>
            </a:r>
          </a:p>
        </p:txBody>
      </p:sp>
      <p:sp>
        <p:nvSpPr>
          <p:cNvPr id="10" name="Rounded Rectangle 9">
            <a:hlinkClick r:id="rId2"/>
          </p:cNvPr>
          <p:cNvSpPr/>
          <p:nvPr/>
        </p:nvSpPr>
        <p:spPr>
          <a:xfrm>
            <a:off x="8412480" y="5943600"/>
            <a:ext cx="3291840" cy="457200"/>
          </a:xfrm>
          <a:prstGeom prst="roundRect">
            <a:avLst/>
          </a:prstGeom>
          <a:solidFill>
            <a:srgbClr val="D9603F"/>
          </a:solidFill>
          <a:ln>
            <a:noFill/>
          </a:ln>
        </p:spPr>
        <p:style>
          <a:lnRef idx="1">
            <a:schemeClr val="accent1"/>
          </a:lnRef>
          <a:fillRef idx="3">
            <a:schemeClr val="accent1"/>
          </a:fillRef>
          <a:effectRef idx="2">
            <a:schemeClr val="accent1"/>
          </a:effectRef>
          <a:fontRef idx="minor">
            <a:schemeClr val="lt1"/>
          </a:fontRef>
        </p:style>
        <p:txBody>
          <a:bodyPr rtlCol="0" anchor="ctr" lIns="137160" rIns="137160"/>
          <a:lstStyle/>
          <a:p>
            <a:pPr algn="ctr"/>
            <a:r>
              <a:rPr sz="1200" b="1">
                <a:solidFill>
                  <a:srgbClr val="FFFFFF"/>
                </a:solidFill>
                <a:latin typeface="Calibri"/>
              </a:rPr>
              <a:t>Open live workbook on OneDrive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3657600" cy="365760"/>
          </a:xfrm>
          <a:prstGeom prst="rect">
            <a:avLst/>
          </a:prstGeom>
          <a:noFill/>
        </p:spPr>
        <p:txBody>
          <a:bodyPr wrap="square" anchor="t" lIns="0" rIns="0" tIns="0" bIns="0">
            <a:spAutoFit/>
          </a:bodyPr>
          <a:lstStyle/>
          <a:p>
            <a:pPr algn="l"/>
            <a:r>
              <a:rPr sz="1100" b="1">
                <a:solidFill>
                  <a:srgbClr val="D9603F"/>
                </a:solidFill>
                <a:latin typeface="Calibri"/>
              </a:rPr>
              <a:t>01 · The brief</a:t>
            </a:r>
          </a:p>
        </p:txBody>
      </p:sp>
      <p:sp>
        <p:nvSpPr>
          <p:cNvPr id="4" name="TextBox 3"/>
          <p:cNvSpPr txBox="1"/>
          <p:nvPr/>
        </p:nvSpPr>
        <p:spPr>
          <a:xfrm>
            <a:off x="548640" y="914400"/>
            <a:ext cx="10058400" cy="1097280"/>
          </a:xfrm>
          <a:prstGeom prst="rect">
            <a:avLst/>
          </a:prstGeom>
          <a:noFill/>
        </p:spPr>
        <p:txBody>
          <a:bodyPr wrap="square" anchor="t" lIns="0" rIns="0" tIns="0" bIns="0">
            <a:spAutoFit/>
          </a:bodyPr>
          <a:lstStyle/>
          <a:p>
            <a:pPr algn="l"/>
            <a:r>
              <a:rPr sz="3600" b="1">
                <a:solidFill>
                  <a:srgbClr val="1A2530"/>
                </a:solidFill>
                <a:latin typeface="Georgia"/>
              </a:rPr>
              <a:t>Where did 2021 revenue come from
and where did it fall short?</a:t>
            </a:r>
          </a:p>
        </p:txBody>
      </p:sp>
      <p:sp>
        <p:nvSpPr>
          <p:cNvPr id="5" name="TextBox 4"/>
          <p:cNvSpPr txBox="1"/>
          <p:nvPr/>
        </p:nvSpPr>
        <p:spPr>
          <a:xfrm>
            <a:off x="548640" y="2926080"/>
            <a:ext cx="10058400" cy="457200"/>
          </a:xfrm>
          <a:prstGeom prst="rect">
            <a:avLst/>
          </a:prstGeom>
          <a:noFill/>
        </p:spPr>
        <p:txBody>
          <a:bodyPr wrap="square" anchor="t" lIns="0" rIns="0" tIns="0" bIns="0">
            <a:spAutoFit/>
          </a:bodyPr>
          <a:lstStyle/>
          <a:p>
            <a:pPr algn="l"/>
            <a:r>
              <a:rPr sz="1400" b="1">
                <a:solidFill>
                  <a:srgbClr val="3D6655"/>
                </a:solidFill>
                <a:latin typeface="Calibri"/>
              </a:rPr>
              <a:t>The question driving this work:</a:t>
            </a:r>
          </a:p>
        </p:txBody>
      </p:sp>
      <p:sp>
        <p:nvSpPr>
          <p:cNvPr id="6" name="TextBox 5"/>
          <p:cNvSpPr txBox="1"/>
          <p:nvPr/>
        </p:nvSpPr>
        <p:spPr>
          <a:xfrm>
            <a:off x="548640" y="3474720"/>
            <a:ext cx="10058400" cy="2286000"/>
          </a:xfrm>
          <a:prstGeom prst="rect">
            <a:avLst/>
          </a:prstGeom>
          <a:noFill/>
        </p:spPr>
        <p:txBody>
          <a:bodyPr wrap="square" anchor="t" lIns="0" rIns="0" tIns="0" bIns="0">
            <a:spAutoFit/>
          </a:bodyPr>
          <a:lstStyle/>
          <a:p>
            <a:pPr algn="l"/>
            <a:r>
              <a:rPr sz="1400" b="0">
                <a:solidFill>
                  <a:srgbClr val="4A5460"/>
                </a:solidFill>
                <a:latin typeface="Calibri"/>
              </a:rPr>
              <a:t>A full year of sales transactions sits in one spreadsheet. Operations knows what shipped. Finance knows what came in. Neither view alone answers the questions leadership actually asks. Which months hit target. Which customers carry the book. Which products earn their shelf space. Which countries deserve more investment and which are underperforming. This analysis brings the data into one model and gives those answers.</a:t>
            </a:r>
          </a:p>
        </p:txBody>
      </p:sp>
      <p:sp>
        <p:nvSpPr>
          <p:cNvPr id="7" name="Rectangle 6"/>
          <p:cNvSpPr/>
          <p:nvPr/>
        </p:nvSpPr>
        <p:spPr>
          <a:xfrm>
            <a:off x="0" y="6675120"/>
            <a:ext cx="12191695" cy="182880"/>
          </a:xfrm>
          <a:prstGeom prst="rect">
            <a:avLst/>
          </a:prstGeom>
          <a:solidFill>
            <a:srgbClr val="3D6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3657600" cy="365760"/>
          </a:xfrm>
          <a:prstGeom prst="rect">
            <a:avLst/>
          </a:prstGeom>
          <a:noFill/>
        </p:spPr>
        <p:txBody>
          <a:bodyPr wrap="square" anchor="t" lIns="0" rIns="0" tIns="0" bIns="0">
            <a:spAutoFit/>
          </a:bodyPr>
          <a:lstStyle/>
          <a:p>
            <a:pPr algn="l"/>
            <a:r>
              <a:rPr sz="1100" b="1">
                <a:solidFill>
                  <a:srgbClr val="D9603F"/>
                </a:solidFill>
                <a:latin typeface="Calibri"/>
              </a:rPr>
              <a:t>02 · The data</a:t>
            </a:r>
          </a:p>
        </p:txBody>
      </p:sp>
      <p:sp>
        <p:nvSpPr>
          <p:cNvPr id="4" name="TextBox 3"/>
          <p:cNvSpPr txBox="1"/>
          <p:nvPr/>
        </p:nvSpPr>
        <p:spPr>
          <a:xfrm>
            <a:off x="548640" y="914400"/>
            <a:ext cx="10058400" cy="731520"/>
          </a:xfrm>
          <a:prstGeom prst="rect">
            <a:avLst/>
          </a:prstGeom>
          <a:noFill/>
        </p:spPr>
        <p:txBody>
          <a:bodyPr wrap="square" anchor="t" lIns="0" rIns="0" tIns="0" bIns="0">
            <a:spAutoFit/>
          </a:bodyPr>
          <a:lstStyle/>
          <a:p>
            <a:pPr algn="l"/>
            <a:r>
              <a:rPr sz="3200" b="1">
                <a:solidFill>
                  <a:srgbClr val="1A2530"/>
                </a:solidFill>
                <a:latin typeface="Georgia"/>
              </a:rPr>
              <a:t>What sits underneath the dashboard</a:t>
            </a:r>
          </a:p>
        </p:txBody>
      </p:sp>
      <p:sp>
        <p:nvSpPr>
          <p:cNvPr id="5" name="Rectangle 4"/>
          <p:cNvSpPr/>
          <p:nvPr/>
        </p:nvSpPr>
        <p:spPr>
          <a:xfrm>
            <a:off x="548640" y="2194560"/>
            <a:ext cx="5394960" cy="41148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377440"/>
            <a:ext cx="4937760" cy="365760"/>
          </a:xfrm>
          <a:prstGeom prst="rect">
            <a:avLst/>
          </a:prstGeom>
          <a:noFill/>
        </p:spPr>
        <p:txBody>
          <a:bodyPr wrap="square" anchor="t" lIns="0" rIns="0" tIns="0" bIns="0">
            <a:spAutoFit/>
          </a:bodyPr>
          <a:lstStyle/>
          <a:p>
            <a:pPr algn="l"/>
            <a:r>
              <a:rPr sz="1000" b="1">
                <a:solidFill>
                  <a:srgbClr val="D9603F"/>
                </a:solidFill>
                <a:latin typeface="Calibri"/>
              </a:rPr>
              <a:t>INPUT DATA</a:t>
            </a:r>
          </a:p>
        </p:txBody>
      </p:sp>
      <p:sp>
        <p:nvSpPr>
          <p:cNvPr id="7" name="TextBox 6"/>
          <p:cNvSpPr txBox="1"/>
          <p:nvPr/>
        </p:nvSpPr>
        <p:spPr>
          <a:xfrm>
            <a:off x="822960" y="2697480"/>
            <a:ext cx="4937760" cy="457200"/>
          </a:xfrm>
          <a:prstGeom prst="rect">
            <a:avLst/>
          </a:prstGeom>
          <a:noFill/>
        </p:spPr>
        <p:txBody>
          <a:bodyPr wrap="square" anchor="t" lIns="0" rIns="0" tIns="0" bIns="0">
            <a:spAutoFit/>
          </a:bodyPr>
          <a:lstStyle/>
          <a:p>
            <a:pPr algn="l"/>
            <a:r>
              <a:rPr sz="2000" b="1">
                <a:solidFill>
                  <a:srgbClr val="1A2530"/>
                </a:solidFill>
                <a:latin typeface="Georgia"/>
              </a:rPr>
              <a:t>Transaction log</a:t>
            </a:r>
          </a:p>
        </p:txBody>
      </p:sp>
      <p:sp>
        <p:nvSpPr>
          <p:cNvPr id="8" name="TextBox 7"/>
          <p:cNvSpPr txBox="1"/>
          <p:nvPr/>
        </p:nvSpPr>
        <p:spPr>
          <a:xfrm>
            <a:off x="822960" y="3291840"/>
            <a:ext cx="4937760" cy="2743200"/>
          </a:xfrm>
          <a:prstGeom prst="rect">
            <a:avLst/>
          </a:prstGeom>
          <a:noFill/>
        </p:spPr>
        <p:txBody>
          <a:bodyPr wrap="square" anchor="t" lIns="0" rIns="0" tIns="0" bIns="0">
            <a:spAutoFit/>
          </a:bodyPr>
          <a:lstStyle/>
          <a:p>
            <a:pPr algn="l"/>
            <a:r>
              <a:rPr sz="1300" b="0">
                <a:solidFill>
                  <a:srgbClr val="4A5460"/>
                </a:solidFill>
                <a:latin typeface="Calibri"/>
              </a:rPr>
              <a:t>832 sales transactions across full year 2021
10 fields per row: date, customer, product,
unit price, quantity, actual revenue, country,
region, month, week
Clean source data, no deduplication required</a:t>
            </a:r>
          </a:p>
        </p:txBody>
      </p:sp>
      <p:sp>
        <p:nvSpPr>
          <p:cNvPr id="9" name="Rectangle 8"/>
          <p:cNvSpPr/>
          <p:nvPr/>
        </p:nvSpPr>
        <p:spPr>
          <a:xfrm>
            <a:off x="6217920" y="2194560"/>
            <a:ext cx="5394960" cy="41148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2377440"/>
            <a:ext cx="4937760" cy="365760"/>
          </a:xfrm>
          <a:prstGeom prst="rect">
            <a:avLst/>
          </a:prstGeom>
          <a:noFill/>
        </p:spPr>
        <p:txBody>
          <a:bodyPr wrap="square" anchor="t" lIns="0" rIns="0" tIns="0" bIns="0">
            <a:spAutoFit/>
          </a:bodyPr>
          <a:lstStyle/>
          <a:p>
            <a:pPr algn="l"/>
            <a:r>
              <a:rPr sz="1000" b="1">
                <a:solidFill>
                  <a:srgbClr val="3D6655"/>
                </a:solidFill>
                <a:latin typeface="Calibri"/>
              </a:rPr>
              <a:t>SUPPORTING TABLES</a:t>
            </a:r>
          </a:p>
        </p:txBody>
      </p:sp>
      <p:sp>
        <p:nvSpPr>
          <p:cNvPr id="11" name="TextBox 10"/>
          <p:cNvSpPr txBox="1"/>
          <p:nvPr/>
        </p:nvSpPr>
        <p:spPr>
          <a:xfrm>
            <a:off x="6492240" y="2697480"/>
            <a:ext cx="4937760" cy="457200"/>
          </a:xfrm>
          <a:prstGeom prst="rect">
            <a:avLst/>
          </a:prstGeom>
          <a:noFill/>
        </p:spPr>
        <p:txBody>
          <a:bodyPr wrap="square" anchor="t" lIns="0" rIns="0" tIns="0" bIns="0">
            <a:spAutoFit/>
          </a:bodyPr>
          <a:lstStyle/>
          <a:p>
            <a:pPr algn="l"/>
            <a:r>
              <a:rPr sz="2000" b="1">
                <a:solidFill>
                  <a:srgbClr val="1A2530"/>
                </a:solidFill>
                <a:latin typeface="Georgia"/>
              </a:rPr>
              <a:t>Target and Customer</a:t>
            </a:r>
          </a:p>
        </p:txBody>
      </p:sp>
      <p:sp>
        <p:nvSpPr>
          <p:cNvPr id="12" name="TextBox 11"/>
          <p:cNvSpPr txBox="1"/>
          <p:nvPr/>
        </p:nvSpPr>
        <p:spPr>
          <a:xfrm>
            <a:off x="6492240" y="3291840"/>
            <a:ext cx="4937760" cy="2743200"/>
          </a:xfrm>
          <a:prstGeom prst="rect">
            <a:avLst/>
          </a:prstGeom>
          <a:noFill/>
        </p:spPr>
        <p:txBody>
          <a:bodyPr wrap="square" anchor="t" lIns="0" rIns="0" tIns="0" bIns="0">
            <a:spAutoFit/>
          </a:bodyPr>
          <a:lstStyle/>
          <a:p>
            <a:pPr algn="l"/>
            <a:r>
              <a:rPr sz="1300" b="0">
                <a:solidFill>
                  <a:srgbClr val="4A5460"/>
                </a:solidFill>
                <a:latin typeface="Calibri"/>
              </a:rPr>
              <a:t>Target sheet: monthly revenue targets with
variance calculations
Customer sheet: 40 customers mapped to
15 countries across 7 regions
Used for joins and benchmark comparisons
in the dashboard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3657600" cy="365760"/>
          </a:xfrm>
          <a:prstGeom prst="rect">
            <a:avLst/>
          </a:prstGeom>
          <a:noFill/>
        </p:spPr>
        <p:txBody>
          <a:bodyPr wrap="square" anchor="t" lIns="0" rIns="0" tIns="0" bIns="0">
            <a:spAutoFit/>
          </a:bodyPr>
          <a:lstStyle/>
          <a:p>
            <a:pPr algn="l"/>
            <a:r>
              <a:rPr sz="1100" b="1">
                <a:solidFill>
                  <a:srgbClr val="D9603F"/>
                </a:solidFill>
                <a:latin typeface="Calibri"/>
              </a:rPr>
              <a:t>03 · Headline numbers</a:t>
            </a:r>
          </a:p>
        </p:txBody>
      </p:sp>
      <p:sp>
        <p:nvSpPr>
          <p:cNvPr id="4" name="TextBox 3"/>
          <p:cNvSpPr txBox="1"/>
          <p:nvPr/>
        </p:nvSpPr>
        <p:spPr>
          <a:xfrm>
            <a:off x="548640" y="914400"/>
            <a:ext cx="10058400" cy="731520"/>
          </a:xfrm>
          <a:prstGeom prst="rect">
            <a:avLst/>
          </a:prstGeom>
          <a:noFill/>
        </p:spPr>
        <p:txBody>
          <a:bodyPr wrap="square" anchor="t" lIns="0" rIns="0" tIns="0" bIns="0">
            <a:spAutoFit/>
          </a:bodyPr>
          <a:lstStyle/>
          <a:p>
            <a:pPr algn="l"/>
            <a:r>
              <a:rPr sz="3200" b="1">
                <a:solidFill>
                  <a:srgbClr val="1A2530"/>
                </a:solidFill>
                <a:latin typeface="Georgia"/>
              </a:rPr>
              <a:t>The year in six numbers</a:t>
            </a:r>
          </a:p>
        </p:txBody>
      </p:sp>
      <p:sp>
        <p:nvSpPr>
          <p:cNvPr id="5" name="Rectangle 4"/>
          <p:cNvSpPr/>
          <p:nvPr/>
        </p:nvSpPr>
        <p:spPr>
          <a:xfrm>
            <a:off x="548640" y="2194560"/>
            <a:ext cx="3657600" cy="18288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94560"/>
            <a:ext cx="73152" cy="1828800"/>
          </a:xfrm>
          <a:prstGeom prst="rect">
            <a:avLst/>
          </a:prstGeom>
          <a:solidFill>
            <a:srgbClr val="3D6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560320"/>
            <a:ext cx="3200400" cy="914400"/>
          </a:xfrm>
          <a:prstGeom prst="rect">
            <a:avLst/>
          </a:prstGeom>
          <a:noFill/>
        </p:spPr>
        <p:txBody>
          <a:bodyPr wrap="square" anchor="t" lIns="0" rIns="0" tIns="0" bIns="0">
            <a:spAutoFit/>
          </a:bodyPr>
          <a:lstStyle/>
          <a:p>
            <a:pPr algn="l"/>
            <a:r>
              <a:rPr sz="3600" b="1">
                <a:solidFill>
                  <a:srgbClr val="3D6655"/>
                </a:solidFill>
                <a:latin typeface="Georgia"/>
              </a:rPr>
              <a:t>$985K</a:t>
            </a:r>
          </a:p>
        </p:txBody>
      </p:sp>
      <p:sp>
        <p:nvSpPr>
          <p:cNvPr id="8" name="TextBox 7"/>
          <p:cNvSpPr txBox="1"/>
          <p:nvPr/>
        </p:nvSpPr>
        <p:spPr>
          <a:xfrm>
            <a:off x="822960" y="3474720"/>
            <a:ext cx="3200400" cy="457200"/>
          </a:xfrm>
          <a:prstGeom prst="rect">
            <a:avLst/>
          </a:prstGeom>
          <a:noFill/>
        </p:spPr>
        <p:txBody>
          <a:bodyPr wrap="square" anchor="t" lIns="0" rIns="0" tIns="0" bIns="0">
            <a:spAutoFit/>
          </a:bodyPr>
          <a:lstStyle/>
          <a:p>
            <a:pPr algn="l"/>
            <a:r>
              <a:rPr sz="1200" b="0">
                <a:solidFill>
                  <a:srgbClr val="4A5460"/>
                </a:solidFill>
                <a:latin typeface="Calibri"/>
              </a:rPr>
              <a:t>Total revenue earned</a:t>
            </a:r>
          </a:p>
        </p:txBody>
      </p:sp>
      <p:sp>
        <p:nvSpPr>
          <p:cNvPr id="9" name="Rectangle 8"/>
          <p:cNvSpPr/>
          <p:nvPr/>
        </p:nvSpPr>
        <p:spPr>
          <a:xfrm>
            <a:off x="4297680" y="2194560"/>
            <a:ext cx="3657600" cy="18288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2194560"/>
            <a:ext cx="73152" cy="1828800"/>
          </a:xfrm>
          <a:prstGeom prst="rect">
            <a:avLst/>
          </a:prstGeom>
          <a:solidFill>
            <a:srgbClr val="B84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560320"/>
            <a:ext cx="3200400" cy="914400"/>
          </a:xfrm>
          <a:prstGeom prst="rect">
            <a:avLst/>
          </a:prstGeom>
          <a:noFill/>
        </p:spPr>
        <p:txBody>
          <a:bodyPr wrap="square" anchor="t" lIns="0" rIns="0" tIns="0" bIns="0">
            <a:spAutoFit/>
          </a:bodyPr>
          <a:lstStyle/>
          <a:p>
            <a:pPr algn="l"/>
            <a:r>
              <a:rPr sz="3600" b="1">
                <a:solidFill>
                  <a:srgbClr val="B8463A"/>
                </a:solidFill>
                <a:latin typeface="Georgia"/>
              </a:rPr>
              <a:t>-$95K</a:t>
            </a:r>
          </a:p>
        </p:txBody>
      </p:sp>
      <p:sp>
        <p:nvSpPr>
          <p:cNvPr id="12" name="TextBox 11"/>
          <p:cNvSpPr txBox="1"/>
          <p:nvPr/>
        </p:nvSpPr>
        <p:spPr>
          <a:xfrm>
            <a:off x="4572000" y="3474720"/>
            <a:ext cx="3200400" cy="457200"/>
          </a:xfrm>
          <a:prstGeom prst="rect">
            <a:avLst/>
          </a:prstGeom>
          <a:noFill/>
        </p:spPr>
        <p:txBody>
          <a:bodyPr wrap="square" anchor="t" lIns="0" rIns="0" tIns="0" bIns="0">
            <a:spAutoFit/>
          </a:bodyPr>
          <a:lstStyle/>
          <a:p>
            <a:pPr algn="l"/>
            <a:r>
              <a:rPr sz="1200" b="0">
                <a:solidFill>
                  <a:srgbClr val="4A5460"/>
                </a:solidFill>
                <a:latin typeface="Calibri"/>
              </a:rPr>
              <a:t>Below the $1.08M target</a:t>
            </a:r>
          </a:p>
        </p:txBody>
      </p:sp>
      <p:sp>
        <p:nvSpPr>
          <p:cNvPr id="13" name="Rectangle 12"/>
          <p:cNvSpPr/>
          <p:nvPr/>
        </p:nvSpPr>
        <p:spPr>
          <a:xfrm>
            <a:off x="8046720" y="2194560"/>
            <a:ext cx="3657600" cy="18288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2194560"/>
            <a:ext cx="73152" cy="1828800"/>
          </a:xfrm>
          <a:prstGeom prst="rect">
            <a:avLst/>
          </a:prstGeom>
          <a:solidFill>
            <a:srgbClr val="D960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2560320"/>
            <a:ext cx="3200400" cy="914400"/>
          </a:xfrm>
          <a:prstGeom prst="rect">
            <a:avLst/>
          </a:prstGeom>
          <a:noFill/>
        </p:spPr>
        <p:txBody>
          <a:bodyPr wrap="square" anchor="t" lIns="0" rIns="0" tIns="0" bIns="0">
            <a:spAutoFit/>
          </a:bodyPr>
          <a:lstStyle/>
          <a:p>
            <a:pPr algn="l"/>
            <a:r>
              <a:rPr sz="3600" b="1">
                <a:solidFill>
                  <a:srgbClr val="D9603F"/>
                </a:solidFill>
                <a:latin typeface="Georgia"/>
              </a:rPr>
              <a:t>4 of 12</a:t>
            </a:r>
          </a:p>
        </p:txBody>
      </p:sp>
      <p:sp>
        <p:nvSpPr>
          <p:cNvPr id="16" name="TextBox 15"/>
          <p:cNvSpPr txBox="1"/>
          <p:nvPr/>
        </p:nvSpPr>
        <p:spPr>
          <a:xfrm>
            <a:off x="8321040" y="3474720"/>
            <a:ext cx="3200400" cy="457200"/>
          </a:xfrm>
          <a:prstGeom prst="rect">
            <a:avLst/>
          </a:prstGeom>
          <a:noFill/>
        </p:spPr>
        <p:txBody>
          <a:bodyPr wrap="square" anchor="t" lIns="0" rIns="0" tIns="0" bIns="0">
            <a:spAutoFit/>
          </a:bodyPr>
          <a:lstStyle/>
          <a:p>
            <a:pPr algn="l"/>
            <a:r>
              <a:rPr sz="1200" b="0">
                <a:solidFill>
                  <a:srgbClr val="4A5460"/>
                </a:solidFill>
                <a:latin typeface="Calibri"/>
              </a:rPr>
              <a:t>Months that hit target</a:t>
            </a:r>
          </a:p>
        </p:txBody>
      </p:sp>
      <p:sp>
        <p:nvSpPr>
          <p:cNvPr id="17" name="Rectangle 16"/>
          <p:cNvSpPr/>
          <p:nvPr/>
        </p:nvSpPr>
        <p:spPr>
          <a:xfrm>
            <a:off x="548640" y="4206240"/>
            <a:ext cx="3657600" cy="18288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206240"/>
            <a:ext cx="73152" cy="1828800"/>
          </a:xfrm>
          <a:prstGeom prst="rect">
            <a:avLst/>
          </a:prstGeom>
          <a:solidFill>
            <a:srgbClr val="C2A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72000"/>
            <a:ext cx="3200400" cy="914400"/>
          </a:xfrm>
          <a:prstGeom prst="rect">
            <a:avLst/>
          </a:prstGeom>
          <a:noFill/>
        </p:spPr>
        <p:txBody>
          <a:bodyPr wrap="square" anchor="t" lIns="0" rIns="0" tIns="0" bIns="0">
            <a:spAutoFit/>
          </a:bodyPr>
          <a:lstStyle/>
          <a:p>
            <a:pPr algn="l"/>
            <a:r>
              <a:rPr sz="3600" b="1">
                <a:solidFill>
                  <a:srgbClr val="C2A046"/>
                </a:solidFill>
                <a:latin typeface="Georgia"/>
              </a:rPr>
              <a:t>$532K</a:t>
            </a:r>
          </a:p>
        </p:txBody>
      </p:sp>
      <p:sp>
        <p:nvSpPr>
          <p:cNvPr id="20" name="TextBox 19"/>
          <p:cNvSpPr txBox="1"/>
          <p:nvPr/>
        </p:nvSpPr>
        <p:spPr>
          <a:xfrm>
            <a:off x="822960" y="5486400"/>
            <a:ext cx="3200400" cy="457200"/>
          </a:xfrm>
          <a:prstGeom prst="rect">
            <a:avLst/>
          </a:prstGeom>
          <a:noFill/>
        </p:spPr>
        <p:txBody>
          <a:bodyPr wrap="square" anchor="t" lIns="0" rIns="0" tIns="0" bIns="0">
            <a:spAutoFit/>
          </a:bodyPr>
          <a:lstStyle/>
          <a:p>
            <a:pPr algn="l"/>
            <a:r>
              <a:rPr sz="1200" b="0">
                <a:solidFill>
                  <a:srgbClr val="4A5460"/>
                </a:solidFill>
                <a:latin typeface="Calibri"/>
              </a:rPr>
              <a:t>From Export region alone</a:t>
            </a:r>
          </a:p>
        </p:txBody>
      </p:sp>
      <p:sp>
        <p:nvSpPr>
          <p:cNvPr id="21" name="Rectangle 20"/>
          <p:cNvSpPr/>
          <p:nvPr/>
        </p:nvSpPr>
        <p:spPr>
          <a:xfrm>
            <a:off x="4297680" y="4206240"/>
            <a:ext cx="3657600" cy="18288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80" y="4206240"/>
            <a:ext cx="73152" cy="1828800"/>
          </a:xfrm>
          <a:prstGeom prst="rect">
            <a:avLst/>
          </a:prstGeom>
          <a:solidFill>
            <a:srgbClr val="5F7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0" y="4572000"/>
            <a:ext cx="3200400" cy="914400"/>
          </a:xfrm>
          <a:prstGeom prst="rect">
            <a:avLst/>
          </a:prstGeom>
          <a:noFill/>
        </p:spPr>
        <p:txBody>
          <a:bodyPr wrap="square" anchor="t" lIns="0" rIns="0" tIns="0" bIns="0">
            <a:spAutoFit/>
          </a:bodyPr>
          <a:lstStyle/>
          <a:p>
            <a:pPr algn="l"/>
            <a:r>
              <a:rPr sz="3600" b="1">
                <a:solidFill>
                  <a:srgbClr val="5F7FAA"/>
                </a:solidFill>
                <a:latin typeface="Georgia"/>
              </a:rPr>
              <a:t>40</a:t>
            </a:r>
          </a:p>
        </p:txBody>
      </p:sp>
      <p:sp>
        <p:nvSpPr>
          <p:cNvPr id="24" name="TextBox 23"/>
          <p:cNvSpPr txBox="1"/>
          <p:nvPr/>
        </p:nvSpPr>
        <p:spPr>
          <a:xfrm>
            <a:off x="4572000" y="5486400"/>
            <a:ext cx="3200400" cy="457200"/>
          </a:xfrm>
          <a:prstGeom prst="rect">
            <a:avLst/>
          </a:prstGeom>
          <a:noFill/>
        </p:spPr>
        <p:txBody>
          <a:bodyPr wrap="square" anchor="t" lIns="0" rIns="0" tIns="0" bIns="0">
            <a:spAutoFit/>
          </a:bodyPr>
          <a:lstStyle/>
          <a:p>
            <a:pPr algn="l"/>
            <a:r>
              <a:rPr sz="1200" b="0">
                <a:solidFill>
                  <a:srgbClr val="4A5460"/>
                </a:solidFill>
                <a:latin typeface="Calibri"/>
              </a:rPr>
              <a:t>Active customers in 2021</a:t>
            </a:r>
          </a:p>
        </p:txBody>
      </p:sp>
      <p:sp>
        <p:nvSpPr>
          <p:cNvPr id="25" name="Rectangle 24"/>
          <p:cNvSpPr/>
          <p:nvPr/>
        </p:nvSpPr>
        <p:spPr>
          <a:xfrm>
            <a:off x="8046720" y="4206240"/>
            <a:ext cx="3657600" cy="1828800"/>
          </a:xfrm>
          <a:prstGeom prst="rect">
            <a:avLst/>
          </a:prstGeom>
          <a:solidFill>
            <a:srgbClr val="FBF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46720" y="4206240"/>
            <a:ext cx="73152" cy="1828800"/>
          </a:xfrm>
          <a:prstGeom prst="rect">
            <a:avLst/>
          </a:prstGeom>
          <a:solidFill>
            <a:srgbClr val="3D6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0" y="4572000"/>
            <a:ext cx="3200400" cy="914400"/>
          </a:xfrm>
          <a:prstGeom prst="rect">
            <a:avLst/>
          </a:prstGeom>
          <a:noFill/>
        </p:spPr>
        <p:txBody>
          <a:bodyPr wrap="square" anchor="t" lIns="0" rIns="0" tIns="0" bIns="0">
            <a:spAutoFit/>
          </a:bodyPr>
          <a:lstStyle/>
          <a:p>
            <a:pPr algn="l"/>
            <a:r>
              <a:rPr sz="3600" b="1">
                <a:solidFill>
                  <a:srgbClr val="3D6655"/>
                </a:solidFill>
                <a:latin typeface="Georgia"/>
              </a:rPr>
              <a:t>46%</a:t>
            </a:r>
          </a:p>
        </p:txBody>
      </p:sp>
      <p:sp>
        <p:nvSpPr>
          <p:cNvPr id="28" name="TextBox 27"/>
          <p:cNvSpPr txBox="1"/>
          <p:nvPr/>
        </p:nvSpPr>
        <p:spPr>
          <a:xfrm>
            <a:off x="8321040" y="5486400"/>
            <a:ext cx="3200400" cy="457200"/>
          </a:xfrm>
          <a:prstGeom prst="rect">
            <a:avLst/>
          </a:prstGeom>
          <a:noFill/>
        </p:spPr>
        <p:txBody>
          <a:bodyPr wrap="square" anchor="t" lIns="0" rIns="0" tIns="0" bIns="0">
            <a:spAutoFit/>
          </a:bodyPr>
          <a:lstStyle/>
          <a:p>
            <a:pPr algn="l"/>
            <a:r>
              <a:rPr sz="1200" b="0">
                <a:solidFill>
                  <a:srgbClr val="4A5460"/>
                </a:solidFill>
                <a:latin typeface="Calibri"/>
              </a:rPr>
              <a:t>Revenue from India alone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3657600" cy="365760"/>
          </a:xfrm>
          <a:prstGeom prst="rect">
            <a:avLst/>
          </a:prstGeom>
          <a:noFill/>
        </p:spPr>
        <p:txBody>
          <a:bodyPr wrap="square" anchor="t" lIns="0" rIns="0" tIns="0" bIns="0">
            <a:spAutoFit/>
          </a:bodyPr>
          <a:lstStyle/>
          <a:p>
            <a:pPr algn="l"/>
            <a:r>
              <a:rPr sz="1100" b="1">
                <a:solidFill>
                  <a:srgbClr val="D9603F"/>
                </a:solidFill>
                <a:latin typeface="Calibri"/>
              </a:rPr>
              <a:t>04 · Executive overview</a:t>
            </a:r>
          </a:p>
        </p:txBody>
      </p:sp>
      <p:sp>
        <p:nvSpPr>
          <p:cNvPr id="4" name="TextBox 3"/>
          <p:cNvSpPr txBox="1"/>
          <p:nvPr/>
        </p:nvSpPr>
        <p:spPr>
          <a:xfrm>
            <a:off x="548640" y="731520"/>
            <a:ext cx="10058400" cy="548640"/>
          </a:xfrm>
          <a:prstGeom prst="rect">
            <a:avLst/>
          </a:prstGeom>
          <a:noFill/>
        </p:spPr>
        <p:txBody>
          <a:bodyPr wrap="square" anchor="t" lIns="0" rIns="0" tIns="0" bIns="0">
            <a:spAutoFit/>
          </a:bodyPr>
          <a:lstStyle/>
          <a:p>
            <a:pPr algn="l"/>
            <a:r>
              <a:rPr sz="2400" b="1">
                <a:solidFill>
                  <a:srgbClr val="1A2530"/>
                </a:solidFill>
                <a:latin typeface="Georgia"/>
              </a:rPr>
              <a:t>The year missed target by 8.8%, with Export carrying the load</a:t>
            </a:r>
          </a:p>
        </p:txBody>
      </p:sp>
      <p:pic>
        <p:nvPicPr>
          <p:cNvPr id="5" name="Picture 4" descr="01-executive-overview.jpg"/>
          <p:cNvPicPr>
            <a:picLocks noChangeAspect="1"/>
          </p:cNvPicPr>
          <p:nvPr/>
        </p:nvPicPr>
        <p:blipFill>
          <a:blip r:embed="rId2"/>
          <a:stretch>
            <a:fillRect/>
          </a:stretch>
        </p:blipFill>
        <p:spPr>
          <a:xfrm>
            <a:off x="548640" y="1463040"/>
            <a:ext cx="11064240" cy="6822821"/>
          </a:xfrm>
          <a:prstGeom prst="rect">
            <a:avLst/>
          </a:prstGeom>
        </p:spPr>
      </p:pic>
      <p:sp>
        <p:nvSpPr>
          <p:cNvPr id="6" name="TextBox 5"/>
          <p:cNvSpPr txBox="1"/>
          <p:nvPr/>
        </p:nvSpPr>
        <p:spPr>
          <a:xfrm>
            <a:off x="548640" y="6400800"/>
            <a:ext cx="10972800" cy="365760"/>
          </a:xfrm>
          <a:prstGeom prst="rect">
            <a:avLst/>
          </a:prstGeom>
          <a:noFill/>
        </p:spPr>
        <p:txBody>
          <a:bodyPr wrap="square" anchor="t" lIns="0" rIns="0" tIns="0" bIns="0">
            <a:spAutoFit/>
          </a:bodyPr>
          <a:lstStyle/>
          <a:p>
            <a:pPr algn="l"/>
            <a:r>
              <a:rPr sz="1100" b="0">
                <a:solidFill>
                  <a:srgbClr val="4A5460"/>
                </a:solidFill>
                <a:latin typeface="Calibri"/>
              </a:rPr>
              <a:t>Export region delivered $532K, more than four times the next region. The book is geographically concentrated.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3657600" cy="365760"/>
          </a:xfrm>
          <a:prstGeom prst="rect">
            <a:avLst/>
          </a:prstGeom>
          <a:noFill/>
        </p:spPr>
        <p:txBody>
          <a:bodyPr wrap="square" anchor="t" lIns="0" rIns="0" tIns="0" bIns="0">
            <a:spAutoFit/>
          </a:bodyPr>
          <a:lstStyle/>
          <a:p>
            <a:pPr algn="l"/>
            <a:r>
              <a:rPr sz="1100" b="1">
                <a:solidFill>
                  <a:srgbClr val="D9603F"/>
                </a:solidFill>
                <a:latin typeface="Calibri"/>
              </a:rPr>
              <a:t>05 · Monthly trend</a:t>
            </a:r>
          </a:p>
        </p:txBody>
      </p:sp>
      <p:sp>
        <p:nvSpPr>
          <p:cNvPr id="4" name="TextBox 3"/>
          <p:cNvSpPr txBox="1"/>
          <p:nvPr/>
        </p:nvSpPr>
        <p:spPr>
          <a:xfrm>
            <a:off x="548640" y="731520"/>
            <a:ext cx="10058400" cy="548640"/>
          </a:xfrm>
          <a:prstGeom prst="rect">
            <a:avLst/>
          </a:prstGeom>
          <a:noFill/>
        </p:spPr>
        <p:txBody>
          <a:bodyPr wrap="square" anchor="t" lIns="0" rIns="0" tIns="0" bIns="0">
            <a:spAutoFit/>
          </a:bodyPr>
          <a:lstStyle/>
          <a:p>
            <a:pPr algn="l"/>
            <a:r>
              <a:rPr sz="2400" b="1">
                <a:solidFill>
                  <a:srgbClr val="1A2530"/>
                </a:solidFill>
                <a:latin typeface="Georgia"/>
              </a:rPr>
              <a:t>Strong start, midyear collapse, late recovery</a:t>
            </a:r>
          </a:p>
        </p:txBody>
      </p:sp>
      <p:pic>
        <p:nvPicPr>
          <p:cNvPr id="5" name="Picture 4" descr="02-monthly-trend.jpg"/>
          <p:cNvPicPr>
            <a:picLocks noChangeAspect="1"/>
          </p:cNvPicPr>
          <p:nvPr/>
        </p:nvPicPr>
        <p:blipFill>
          <a:blip r:embed="rId2"/>
          <a:stretch>
            <a:fillRect/>
          </a:stretch>
        </p:blipFill>
        <p:spPr>
          <a:xfrm>
            <a:off x="548640" y="1463040"/>
            <a:ext cx="11064240" cy="5032807"/>
          </a:xfrm>
          <a:prstGeom prst="rect">
            <a:avLst/>
          </a:prstGeom>
        </p:spPr>
      </p:pic>
      <p:sp>
        <p:nvSpPr>
          <p:cNvPr id="6" name="TextBox 5"/>
          <p:cNvSpPr txBox="1"/>
          <p:nvPr/>
        </p:nvSpPr>
        <p:spPr>
          <a:xfrm>
            <a:off x="548640" y="6400800"/>
            <a:ext cx="10972800" cy="365760"/>
          </a:xfrm>
          <a:prstGeom prst="rect">
            <a:avLst/>
          </a:prstGeom>
          <a:noFill/>
        </p:spPr>
        <p:txBody>
          <a:bodyPr wrap="square" anchor="t" lIns="0" rIns="0" tIns="0" bIns="0">
            <a:spAutoFit/>
          </a:bodyPr>
          <a:lstStyle/>
          <a:p>
            <a:pPr algn="l"/>
            <a:r>
              <a:rPr sz="1100" b="0">
                <a:solidFill>
                  <a:srgbClr val="4A5460"/>
                </a:solidFill>
                <a:latin typeface="Calibri"/>
              </a:rPr>
              <a:t>Q1 hit close to target. April through September dropped 20-30% below. Q4 recovered only partially.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3657600" cy="365760"/>
          </a:xfrm>
          <a:prstGeom prst="rect">
            <a:avLst/>
          </a:prstGeom>
          <a:noFill/>
        </p:spPr>
        <p:txBody>
          <a:bodyPr wrap="square" anchor="t" lIns="0" rIns="0" tIns="0" bIns="0">
            <a:spAutoFit/>
          </a:bodyPr>
          <a:lstStyle/>
          <a:p>
            <a:pPr algn="l"/>
            <a:r>
              <a:rPr sz="1100" b="1">
                <a:solidFill>
                  <a:srgbClr val="D9603F"/>
                </a:solidFill>
                <a:latin typeface="Calibri"/>
              </a:rPr>
              <a:t>06 · Customer performance</a:t>
            </a:r>
          </a:p>
        </p:txBody>
      </p:sp>
      <p:sp>
        <p:nvSpPr>
          <p:cNvPr id="4" name="TextBox 3"/>
          <p:cNvSpPr txBox="1"/>
          <p:nvPr/>
        </p:nvSpPr>
        <p:spPr>
          <a:xfrm>
            <a:off x="548640" y="731520"/>
            <a:ext cx="10058400" cy="548640"/>
          </a:xfrm>
          <a:prstGeom prst="rect">
            <a:avLst/>
          </a:prstGeom>
          <a:noFill/>
        </p:spPr>
        <p:txBody>
          <a:bodyPr wrap="square" anchor="t" lIns="0" rIns="0" tIns="0" bIns="0">
            <a:spAutoFit/>
          </a:bodyPr>
          <a:lstStyle/>
          <a:p>
            <a:pPr algn="l"/>
            <a:r>
              <a:rPr sz="2400" b="1">
                <a:solidFill>
                  <a:srgbClr val="1A2530"/>
                </a:solidFill>
                <a:latin typeface="Georgia"/>
              </a:rPr>
              <a:t>Top 10 customers carry 53% of revenue</a:t>
            </a:r>
          </a:p>
        </p:txBody>
      </p:sp>
      <p:pic>
        <p:nvPicPr>
          <p:cNvPr id="5" name="Picture 4" descr="03-top-customers.jpg"/>
          <p:cNvPicPr>
            <a:picLocks noChangeAspect="1"/>
          </p:cNvPicPr>
          <p:nvPr/>
        </p:nvPicPr>
        <p:blipFill>
          <a:blip r:embed="rId2"/>
          <a:stretch>
            <a:fillRect/>
          </a:stretch>
        </p:blipFill>
        <p:spPr>
          <a:xfrm>
            <a:off x="548640" y="1463040"/>
            <a:ext cx="11064240" cy="5073036"/>
          </a:xfrm>
          <a:prstGeom prst="rect">
            <a:avLst/>
          </a:prstGeom>
        </p:spPr>
      </p:pic>
      <p:sp>
        <p:nvSpPr>
          <p:cNvPr id="6" name="TextBox 5"/>
          <p:cNvSpPr txBox="1"/>
          <p:nvPr/>
        </p:nvSpPr>
        <p:spPr>
          <a:xfrm>
            <a:off x="548640" y="6400800"/>
            <a:ext cx="10972800" cy="365760"/>
          </a:xfrm>
          <a:prstGeom prst="rect">
            <a:avLst/>
          </a:prstGeom>
          <a:noFill/>
        </p:spPr>
        <p:txBody>
          <a:bodyPr wrap="square" anchor="t" lIns="0" rIns="0" tIns="0" bIns="0">
            <a:spAutoFit/>
          </a:bodyPr>
          <a:lstStyle/>
          <a:p>
            <a:pPr algn="l"/>
            <a:r>
              <a:rPr sz="1100" b="0">
                <a:solidFill>
                  <a:srgbClr val="4A5460"/>
                </a:solidFill>
                <a:latin typeface="Calibri"/>
              </a:rPr>
              <a:t>Customer33 alone generated $61K, 6.2% of total revenue. Concentration risk is significant.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3657600" cy="365760"/>
          </a:xfrm>
          <a:prstGeom prst="rect">
            <a:avLst/>
          </a:prstGeom>
          <a:noFill/>
        </p:spPr>
        <p:txBody>
          <a:bodyPr wrap="square" anchor="t" lIns="0" rIns="0" tIns="0" bIns="0">
            <a:spAutoFit/>
          </a:bodyPr>
          <a:lstStyle/>
          <a:p>
            <a:pPr algn="l"/>
            <a:r>
              <a:rPr sz="1100" b="1">
                <a:solidFill>
                  <a:srgbClr val="D9603F"/>
                </a:solidFill>
                <a:latin typeface="Calibri"/>
              </a:rPr>
              <a:t>07 · Product performance</a:t>
            </a:r>
          </a:p>
        </p:txBody>
      </p:sp>
      <p:sp>
        <p:nvSpPr>
          <p:cNvPr id="4" name="TextBox 3"/>
          <p:cNvSpPr txBox="1"/>
          <p:nvPr/>
        </p:nvSpPr>
        <p:spPr>
          <a:xfrm>
            <a:off x="548640" y="731520"/>
            <a:ext cx="10058400" cy="548640"/>
          </a:xfrm>
          <a:prstGeom prst="rect">
            <a:avLst/>
          </a:prstGeom>
          <a:noFill/>
        </p:spPr>
        <p:txBody>
          <a:bodyPr wrap="square" anchor="t" lIns="0" rIns="0" tIns="0" bIns="0">
            <a:spAutoFit/>
          </a:bodyPr>
          <a:lstStyle/>
          <a:p>
            <a:pPr algn="l"/>
            <a:r>
              <a:rPr sz="2400" b="1">
                <a:solidFill>
                  <a:srgbClr val="1A2530"/>
                </a:solidFill>
                <a:latin typeface="Georgia"/>
              </a:rPr>
              <a:t>Product 30 and 41 lead, but the long tail matters</a:t>
            </a:r>
          </a:p>
        </p:txBody>
      </p:sp>
      <p:pic>
        <p:nvPicPr>
          <p:cNvPr id="5" name="Picture 4" descr="04-top-products.jpg"/>
          <p:cNvPicPr>
            <a:picLocks noChangeAspect="1"/>
          </p:cNvPicPr>
          <p:nvPr/>
        </p:nvPicPr>
        <p:blipFill>
          <a:blip r:embed="rId2"/>
          <a:stretch>
            <a:fillRect/>
          </a:stretch>
        </p:blipFill>
        <p:spPr>
          <a:xfrm>
            <a:off x="548640" y="1463040"/>
            <a:ext cx="11064240" cy="5085180"/>
          </a:xfrm>
          <a:prstGeom prst="rect">
            <a:avLst/>
          </a:prstGeom>
        </p:spPr>
      </p:pic>
      <p:sp>
        <p:nvSpPr>
          <p:cNvPr id="6" name="TextBox 5"/>
          <p:cNvSpPr txBox="1"/>
          <p:nvPr/>
        </p:nvSpPr>
        <p:spPr>
          <a:xfrm>
            <a:off x="548640" y="6400800"/>
            <a:ext cx="10972800" cy="365760"/>
          </a:xfrm>
          <a:prstGeom prst="rect">
            <a:avLst/>
          </a:prstGeom>
          <a:noFill/>
        </p:spPr>
        <p:txBody>
          <a:bodyPr wrap="square" anchor="t" lIns="0" rIns="0" tIns="0" bIns="0">
            <a:spAutoFit/>
          </a:bodyPr>
          <a:lstStyle/>
          <a:p>
            <a:pPr algn="l"/>
            <a:r>
              <a:rPr sz="1100" b="0">
                <a:solidFill>
                  <a:srgbClr val="4A5460"/>
                </a:solidFill>
                <a:latin typeface="Calibri"/>
              </a:rPr>
              <a:t>Top two products earn ~$58K each. The next 38 products combined deliver the remaining 88% of revenue.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3657600" cy="365760"/>
          </a:xfrm>
          <a:prstGeom prst="rect">
            <a:avLst/>
          </a:prstGeom>
          <a:noFill/>
        </p:spPr>
        <p:txBody>
          <a:bodyPr wrap="square" anchor="t" lIns="0" rIns="0" tIns="0" bIns="0">
            <a:spAutoFit/>
          </a:bodyPr>
          <a:lstStyle/>
          <a:p>
            <a:pPr algn="l"/>
            <a:r>
              <a:rPr sz="1100" b="1">
                <a:solidFill>
                  <a:srgbClr val="D9603F"/>
                </a:solidFill>
                <a:latin typeface="Calibri"/>
              </a:rPr>
              <a:t>08 · Geographic performance</a:t>
            </a:r>
          </a:p>
        </p:txBody>
      </p:sp>
      <p:sp>
        <p:nvSpPr>
          <p:cNvPr id="4" name="TextBox 3"/>
          <p:cNvSpPr txBox="1"/>
          <p:nvPr/>
        </p:nvSpPr>
        <p:spPr>
          <a:xfrm>
            <a:off x="548640" y="731520"/>
            <a:ext cx="10058400" cy="548640"/>
          </a:xfrm>
          <a:prstGeom prst="rect">
            <a:avLst/>
          </a:prstGeom>
          <a:noFill/>
        </p:spPr>
        <p:txBody>
          <a:bodyPr wrap="square" anchor="t" lIns="0" rIns="0" tIns="0" bIns="0">
            <a:spAutoFit/>
          </a:bodyPr>
          <a:lstStyle/>
          <a:p>
            <a:pPr algn="l"/>
            <a:r>
              <a:rPr sz="2400" b="1">
                <a:solidFill>
                  <a:srgbClr val="1A2530"/>
                </a:solidFill>
                <a:latin typeface="Georgia"/>
              </a:rPr>
              <a:t>India dominates at 46% of revenue</a:t>
            </a:r>
          </a:p>
        </p:txBody>
      </p:sp>
      <p:pic>
        <p:nvPicPr>
          <p:cNvPr id="5" name="Picture 4" descr="05-geographic.jpg"/>
          <p:cNvPicPr>
            <a:picLocks noChangeAspect="1"/>
          </p:cNvPicPr>
          <p:nvPr/>
        </p:nvPicPr>
        <p:blipFill>
          <a:blip r:embed="rId2"/>
          <a:stretch>
            <a:fillRect/>
          </a:stretch>
        </p:blipFill>
        <p:spPr>
          <a:xfrm>
            <a:off x="548640" y="1463040"/>
            <a:ext cx="11064240" cy="5073036"/>
          </a:xfrm>
          <a:prstGeom prst="rect">
            <a:avLst/>
          </a:prstGeom>
        </p:spPr>
      </p:pic>
      <p:sp>
        <p:nvSpPr>
          <p:cNvPr id="6" name="TextBox 5"/>
          <p:cNvSpPr txBox="1"/>
          <p:nvPr/>
        </p:nvSpPr>
        <p:spPr>
          <a:xfrm>
            <a:off x="548640" y="6400800"/>
            <a:ext cx="10972800" cy="365760"/>
          </a:xfrm>
          <a:prstGeom prst="rect">
            <a:avLst/>
          </a:prstGeom>
          <a:noFill/>
        </p:spPr>
        <p:txBody>
          <a:bodyPr wrap="square" anchor="t" lIns="0" rIns="0" tIns="0" bIns="0">
            <a:spAutoFit/>
          </a:bodyPr>
          <a:lstStyle/>
          <a:p>
            <a:pPr algn="l"/>
            <a:r>
              <a:rPr sz="1100" b="0">
                <a:solidFill>
                  <a:srgbClr val="4A5460"/>
                </a:solidFill>
                <a:latin typeface="Calibri"/>
              </a:rPr>
              <a:t>14 other countries split the remaining 54%. Loss of India would cut revenue nearly in half.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3657600" cy="365760"/>
          </a:xfrm>
          <a:prstGeom prst="rect">
            <a:avLst/>
          </a:prstGeom>
          <a:noFill/>
        </p:spPr>
        <p:txBody>
          <a:bodyPr wrap="square" anchor="t" lIns="0" rIns="0" tIns="0" bIns="0">
            <a:spAutoFit/>
          </a:bodyPr>
          <a:lstStyle/>
          <a:p>
            <a:pPr algn="l"/>
            <a:r>
              <a:rPr sz="1100" b="1">
                <a:solidFill>
                  <a:srgbClr val="D9603F"/>
                </a:solidFill>
                <a:latin typeface="Calibri"/>
              </a:rPr>
              <a:t>09 · Weekly pattern</a:t>
            </a:r>
          </a:p>
        </p:txBody>
      </p:sp>
      <p:sp>
        <p:nvSpPr>
          <p:cNvPr id="4" name="TextBox 3"/>
          <p:cNvSpPr txBox="1"/>
          <p:nvPr/>
        </p:nvSpPr>
        <p:spPr>
          <a:xfrm>
            <a:off x="548640" y="731520"/>
            <a:ext cx="10058400" cy="548640"/>
          </a:xfrm>
          <a:prstGeom prst="rect">
            <a:avLst/>
          </a:prstGeom>
          <a:noFill/>
        </p:spPr>
        <p:txBody>
          <a:bodyPr wrap="square" anchor="t" lIns="0" rIns="0" tIns="0" bIns="0">
            <a:spAutoFit/>
          </a:bodyPr>
          <a:lstStyle/>
          <a:p>
            <a:pPr algn="l"/>
            <a:r>
              <a:rPr sz="2400" b="1">
                <a:solidFill>
                  <a:srgbClr val="1A2530"/>
                </a:solidFill>
                <a:latin typeface="Georgia"/>
              </a:rPr>
              <a:t>Revenue swings widely week to week</a:t>
            </a:r>
          </a:p>
        </p:txBody>
      </p:sp>
      <p:pic>
        <p:nvPicPr>
          <p:cNvPr id="5" name="Picture 4" descr="06-weekly-pattern.jpg"/>
          <p:cNvPicPr>
            <a:picLocks noChangeAspect="1"/>
          </p:cNvPicPr>
          <p:nvPr/>
        </p:nvPicPr>
        <p:blipFill>
          <a:blip r:embed="rId2"/>
          <a:stretch>
            <a:fillRect/>
          </a:stretch>
        </p:blipFill>
        <p:spPr>
          <a:xfrm>
            <a:off x="548640" y="1463040"/>
            <a:ext cx="11064240" cy="5032807"/>
          </a:xfrm>
          <a:prstGeom prst="rect">
            <a:avLst/>
          </a:prstGeom>
        </p:spPr>
      </p:pic>
      <p:sp>
        <p:nvSpPr>
          <p:cNvPr id="6" name="TextBox 5"/>
          <p:cNvSpPr txBox="1"/>
          <p:nvPr/>
        </p:nvSpPr>
        <p:spPr>
          <a:xfrm>
            <a:off x="548640" y="6400800"/>
            <a:ext cx="10972800" cy="365760"/>
          </a:xfrm>
          <a:prstGeom prst="rect">
            <a:avLst/>
          </a:prstGeom>
          <a:noFill/>
        </p:spPr>
        <p:txBody>
          <a:bodyPr wrap="square" anchor="t" lIns="0" rIns="0" tIns="0" bIns="0">
            <a:spAutoFit/>
          </a:bodyPr>
          <a:lstStyle/>
          <a:p>
            <a:pPr algn="l"/>
            <a:r>
              <a:rPr sz="1100" b="0">
                <a:solidFill>
                  <a:srgbClr val="4A5460"/>
                </a:solidFill>
                <a:latin typeface="Calibri"/>
              </a:rPr>
              <a:t>No clear seasonality. Week-to-week variance suggests revenue depends on a few large transactions, not steady volume.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3657600" cy="365760"/>
          </a:xfrm>
          <a:prstGeom prst="rect">
            <a:avLst/>
          </a:prstGeom>
          <a:noFill/>
        </p:spPr>
        <p:txBody>
          <a:bodyPr wrap="square" anchor="t" lIns="0" rIns="0" tIns="0" bIns="0">
            <a:spAutoFit/>
          </a:bodyPr>
          <a:lstStyle/>
          <a:p>
            <a:pPr algn="l"/>
            <a:r>
              <a:rPr sz="1100" b="1">
                <a:solidFill>
                  <a:srgbClr val="D9603F"/>
                </a:solidFill>
                <a:latin typeface="Calibri"/>
              </a:rPr>
              <a:t>10 · Key insights</a:t>
            </a:r>
          </a:p>
        </p:txBody>
      </p:sp>
      <p:sp>
        <p:nvSpPr>
          <p:cNvPr id="4" name="TextBox 3"/>
          <p:cNvSpPr txBox="1"/>
          <p:nvPr/>
        </p:nvSpPr>
        <p:spPr>
          <a:xfrm>
            <a:off x="548640" y="914400"/>
            <a:ext cx="10058400" cy="731520"/>
          </a:xfrm>
          <a:prstGeom prst="rect">
            <a:avLst/>
          </a:prstGeom>
          <a:noFill/>
        </p:spPr>
        <p:txBody>
          <a:bodyPr wrap="square" anchor="t" lIns="0" rIns="0" tIns="0" bIns="0">
            <a:spAutoFit/>
          </a:bodyPr>
          <a:lstStyle/>
          <a:p>
            <a:pPr algn="l"/>
            <a:r>
              <a:rPr sz="3200" b="1">
                <a:solidFill>
                  <a:srgbClr val="1A2530"/>
                </a:solidFill>
                <a:latin typeface="Georgia"/>
              </a:rPr>
              <a:t>What the numbers say</a:t>
            </a:r>
          </a:p>
        </p:txBody>
      </p:sp>
      <p:sp>
        <p:nvSpPr>
          <p:cNvPr id="5" name="TextBox 4"/>
          <p:cNvSpPr txBox="1"/>
          <p:nvPr/>
        </p:nvSpPr>
        <p:spPr>
          <a:xfrm>
            <a:off x="548640" y="2194560"/>
            <a:ext cx="457200" cy="457200"/>
          </a:xfrm>
          <a:prstGeom prst="rect">
            <a:avLst/>
          </a:prstGeom>
          <a:noFill/>
        </p:spPr>
        <p:txBody>
          <a:bodyPr wrap="square" anchor="t" lIns="0" rIns="0" tIns="0" bIns="0">
            <a:spAutoFit/>
          </a:bodyPr>
          <a:lstStyle/>
          <a:p>
            <a:pPr algn="l"/>
            <a:r>
              <a:rPr sz="1800" b="1">
                <a:solidFill>
                  <a:srgbClr val="D9603F"/>
                </a:solidFill>
                <a:latin typeface="Georgia"/>
              </a:rPr>
              <a:t>01</a:t>
            </a:r>
          </a:p>
        </p:txBody>
      </p:sp>
      <p:sp>
        <p:nvSpPr>
          <p:cNvPr id="6" name="TextBox 5"/>
          <p:cNvSpPr txBox="1"/>
          <p:nvPr/>
        </p:nvSpPr>
        <p:spPr>
          <a:xfrm>
            <a:off x="1097280" y="2194560"/>
            <a:ext cx="10515600" cy="411480"/>
          </a:xfrm>
          <a:prstGeom prst="rect">
            <a:avLst/>
          </a:prstGeom>
          <a:noFill/>
        </p:spPr>
        <p:txBody>
          <a:bodyPr wrap="square" anchor="t" lIns="0" rIns="0" tIns="0" bIns="0">
            <a:spAutoFit/>
          </a:bodyPr>
          <a:lstStyle/>
          <a:p>
            <a:pPr algn="l"/>
            <a:r>
              <a:rPr sz="1500" b="1">
                <a:solidFill>
                  <a:srgbClr val="1A2530"/>
                </a:solidFill>
                <a:latin typeface="Calibri"/>
              </a:rPr>
              <a:t>The year missed target by 8.8%</a:t>
            </a:r>
          </a:p>
        </p:txBody>
      </p:sp>
      <p:sp>
        <p:nvSpPr>
          <p:cNvPr id="7" name="TextBox 6"/>
          <p:cNvSpPr txBox="1"/>
          <p:nvPr/>
        </p:nvSpPr>
        <p:spPr>
          <a:xfrm>
            <a:off x="1097280" y="2606040"/>
            <a:ext cx="10515600" cy="457200"/>
          </a:xfrm>
          <a:prstGeom prst="rect">
            <a:avLst/>
          </a:prstGeom>
          <a:noFill/>
        </p:spPr>
        <p:txBody>
          <a:bodyPr wrap="square" anchor="t" lIns="0" rIns="0" tIns="0" bIns="0">
            <a:spAutoFit/>
          </a:bodyPr>
          <a:lstStyle/>
          <a:p>
            <a:pPr algn="l"/>
            <a:r>
              <a:rPr sz="1100" b="0">
                <a:solidFill>
                  <a:srgbClr val="4A5460"/>
                </a:solidFill>
                <a:latin typeface="Calibri"/>
              </a:rPr>
              <a:t>Total revenue of $985K against a $1.08M target. Only 4 of 12 months hit their monthly number.</a:t>
            </a:r>
          </a:p>
        </p:txBody>
      </p:sp>
      <p:sp>
        <p:nvSpPr>
          <p:cNvPr id="8" name="TextBox 7"/>
          <p:cNvSpPr txBox="1"/>
          <p:nvPr/>
        </p:nvSpPr>
        <p:spPr>
          <a:xfrm>
            <a:off x="548640" y="3063240"/>
            <a:ext cx="457200" cy="457200"/>
          </a:xfrm>
          <a:prstGeom prst="rect">
            <a:avLst/>
          </a:prstGeom>
          <a:noFill/>
        </p:spPr>
        <p:txBody>
          <a:bodyPr wrap="square" anchor="t" lIns="0" rIns="0" tIns="0" bIns="0">
            <a:spAutoFit/>
          </a:bodyPr>
          <a:lstStyle/>
          <a:p>
            <a:pPr algn="l"/>
            <a:r>
              <a:rPr sz="1800" b="1">
                <a:solidFill>
                  <a:srgbClr val="D9603F"/>
                </a:solidFill>
                <a:latin typeface="Georgia"/>
              </a:rPr>
              <a:t>02</a:t>
            </a:r>
          </a:p>
        </p:txBody>
      </p:sp>
      <p:sp>
        <p:nvSpPr>
          <p:cNvPr id="9" name="TextBox 8"/>
          <p:cNvSpPr txBox="1"/>
          <p:nvPr/>
        </p:nvSpPr>
        <p:spPr>
          <a:xfrm>
            <a:off x="1097280" y="3063240"/>
            <a:ext cx="10515600" cy="411480"/>
          </a:xfrm>
          <a:prstGeom prst="rect">
            <a:avLst/>
          </a:prstGeom>
          <a:noFill/>
        </p:spPr>
        <p:txBody>
          <a:bodyPr wrap="square" anchor="t" lIns="0" rIns="0" tIns="0" bIns="0">
            <a:spAutoFit/>
          </a:bodyPr>
          <a:lstStyle/>
          <a:p>
            <a:pPr algn="l"/>
            <a:r>
              <a:rPr sz="1500" b="1">
                <a:solidFill>
                  <a:srgbClr val="1A2530"/>
                </a:solidFill>
                <a:latin typeface="Calibri"/>
              </a:rPr>
              <a:t>Export is the business, not a side bet</a:t>
            </a:r>
          </a:p>
        </p:txBody>
      </p:sp>
      <p:sp>
        <p:nvSpPr>
          <p:cNvPr id="10" name="TextBox 9"/>
          <p:cNvSpPr txBox="1"/>
          <p:nvPr/>
        </p:nvSpPr>
        <p:spPr>
          <a:xfrm>
            <a:off x="1097280" y="3474720"/>
            <a:ext cx="10515600" cy="457200"/>
          </a:xfrm>
          <a:prstGeom prst="rect">
            <a:avLst/>
          </a:prstGeom>
          <a:noFill/>
        </p:spPr>
        <p:txBody>
          <a:bodyPr wrap="square" anchor="t" lIns="0" rIns="0" tIns="0" bIns="0">
            <a:spAutoFit/>
          </a:bodyPr>
          <a:lstStyle/>
          <a:p>
            <a:pPr algn="l"/>
            <a:r>
              <a:rPr sz="1100" b="0">
                <a:solidFill>
                  <a:srgbClr val="4A5460"/>
                </a:solidFill>
                <a:latin typeface="Calibri"/>
              </a:rPr>
              <a:t>Export region alone delivered $532K, 54% of total revenue. Removing Export would gut the year.</a:t>
            </a:r>
          </a:p>
        </p:txBody>
      </p:sp>
      <p:sp>
        <p:nvSpPr>
          <p:cNvPr id="11" name="TextBox 10"/>
          <p:cNvSpPr txBox="1"/>
          <p:nvPr/>
        </p:nvSpPr>
        <p:spPr>
          <a:xfrm>
            <a:off x="548640" y="3931920"/>
            <a:ext cx="457200" cy="457200"/>
          </a:xfrm>
          <a:prstGeom prst="rect">
            <a:avLst/>
          </a:prstGeom>
          <a:noFill/>
        </p:spPr>
        <p:txBody>
          <a:bodyPr wrap="square" anchor="t" lIns="0" rIns="0" tIns="0" bIns="0">
            <a:spAutoFit/>
          </a:bodyPr>
          <a:lstStyle/>
          <a:p>
            <a:pPr algn="l"/>
            <a:r>
              <a:rPr sz="1800" b="1">
                <a:solidFill>
                  <a:srgbClr val="D9603F"/>
                </a:solidFill>
                <a:latin typeface="Georgia"/>
              </a:rPr>
              <a:t>03</a:t>
            </a:r>
          </a:p>
        </p:txBody>
      </p:sp>
      <p:sp>
        <p:nvSpPr>
          <p:cNvPr id="12" name="TextBox 11"/>
          <p:cNvSpPr txBox="1"/>
          <p:nvPr/>
        </p:nvSpPr>
        <p:spPr>
          <a:xfrm>
            <a:off x="1097280" y="3931920"/>
            <a:ext cx="10515600" cy="411480"/>
          </a:xfrm>
          <a:prstGeom prst="rect">
            <a:avLst/>
          </a:prstGeom>
          <a:noFill/>
        </p:spPr>
        <p:txBody>
          <a:bodyPr wrap="square" anchor="t" lIns="0" rIns="0" tIns="0" bIns="0">
            <a:spAutoFit/>
          </a:bodyPr>
          <a:lstStyle/>
          <a:p>
            <a:pPr algn="l"/>
            <a:r>
              <a:rPr sz="1500" b="1">
                <a:solidFill>
                  <a:srgbClr val="1A2530"/>
                </a:solidFill>
                <a:latin typeface="Calibri"/>
              </a:rPr>
              <a:t>India is the single biggest country exposure</a:t>
            </a:r>
          </a:p>
        </p:txBody>
      </p:sp>
      <p:sp>
        <p:nvSpPr>
          <p:cNvPr id="13" name="TextBox 12"/>
          <p:cNvSpPr txBox="1"/>
          <p:nvPr/>
        </p:nvSpPr>
        <p:spPr>
          <a:xfrm>
            <a:off x="1097280" y="4343400"/>
            <a:ext cx="10515600" cy="457200"/>
          </a:xfrm>
          <a:prstGeom prst="rect">
            <a:avLst/>
          </a:prstGeom>
          <a:noFill/>
        </p:spPr>
        <p:txBody>
          <a:bodyPr wrap="square" anchor="t" lIns="0" rIns="0" tIns="0" bIns="0">
            <a:spAutoFit/>
          </a:bodyPr>
          <a:lstStyle/>
          <a:p>
            <a:pPr algn="l"/>
            <a:r>
              <a:rPr sz="1100" b="0">
                <a:solidFill>
                  <a:srgbClr val="4A5460"/>
                </a:solidFill>
                <a:latin typeface="Calibri"/>
              </a:rPr>
              <a:t>India contributed $453K, 46% of revenue. The remaining 14 countries split the other 54%.</a:t>
            </a:r>
          </a:p>
        </p:txBody>
      </p:sp>
      <p:sp>
        <p:nvSpPr>
          <p:cNvPr id="14" name="TextBox 13"/>
          <p:cNvSpPr txBox="1"/>
          <p:nvPr/>
        </p:nvSpPr>
        <p:spPr>
          <a:xfrm>
            <a:off x="548640" y="4800600"/>
            <a:ext cx="457200" cy="457200"/>
          </a:xfrm>
          <a:prstGeom prst="rect">
            <a:avLst/>
          </a:prstGeom>
          <a:noFill/>
        </p:spPr>
        <p:txBody>
          <a:bodyPr wrap="square" anchor="t" lIns="0" rIns="0" tIns="0" bIns="0">
            <a:spAutoFit/>
          </a:bodyPr>
          <a:lstStyle/>
          <a:p>
            <a:pPr algn="l"/>
            <a:r>
              <a:rPr sz="1800" b="1">
                <a:solidFill>
                  <a:srgbClr val="D9603F"/>
                </a:solidFill>
                <a:latin typeface="Georgia"/>
              </a:rPr>
              <a:t>04</a:t>
            </a:r>
          </a:p>
        </p:txBody>
      </p:sp>
      <p:sp>
        <p:nvSpPr>
          <p:cNvPr id="15" name="TextBox 14"/>
          <p:cNvSpPr txBox="1"/>
          <p:nvPr/>
        </p:nvSpPr>
        <p:spPr>
          <a:xfrm>
            <a:off x="1097280" y="4800600"/>
            <a:ext cx="10515600" cy="411480"/>
          </a:xfrm>
          <a:prstGeom prst="rect">
            <a:avLst/>
          </a:prstGeom>
          <a:noFill/>
        </p:spPr>
        <p:txBody>
          <a:bodyPr wrap="square" anchor="t" lIns="0" rIns="0" tIns="0" bIns="0">
            <a:spAutoFit/>
          </a:bodyPr>
          <a:lstStyle/>
          <a:p>
            <a:pPr algn="l"/>
            <a:r>
              <a:rPr sz="1500" b="1">
                <a:solidFill>
                  <a:srgbClr val="1A2530"/>
                </a:solidFill>
                <a:latin typeface="Calibri"/>
              </a:rPr>
              <a:t>Customer concentration is high</a:t>
            </a:r>
          </a:p>
        </p:txBody>
      </p:sp>
      <p:sp>
        <p:nvSpPr>
          <p:cNvPr id="16" name="TextBox 15"/>
          <p:cNvSpPr txBox="1"/>
          <p:nvPr/>
        </p:nvSpPr>
        <p:spPr>
          <a:xfrm>
            <a:off x="1097280" y="5212080"/>
            <a:ext cx="10515600" cy="457200"/>
          </a:xfrm>
          <a:prstGeom prst="rect">
            <a:avLst/>
          </a:prstGeom>
          <a:noFill/>
        </p:spPr>
        <p:txBody>
          <a:bodyPr wrap="square" anchor="t" lIns="0" rIns="0" tIns="0" bIns="0">
            <a:spAutoFit/>
          </a:bodyPr>
          <a:lstStyle/>
          <a:p>
            <a:pPr algn="l"/>
            <a:r>
              <a:rPr sz="1100" b="0">
                <a:solidFill>
                  <a:srgbClr val="4A5460"/>
                </a:solidFill>
                <a:latin typeface="Calibri"/>
              </a:rPr>
              <a:t>The top 10 customers carry 53% of revenue. Losing any one of them moves the needle.</a:t>
            </a:r>
          </a:p>
        </p:txBody>
      </p:sp>
      <p:sp>
        <p:nvSpPr>
          <p:cNvPr id="17" name="TextBox 16"/>
          <p:cNvSpPr txBox="1"/>
          <p:nvPr/>
        </p:nvSpPr>
        <p:spPr>
          <a:xfrm>
            <a:off x="548640" y="5669280"/>
            <a:ext cx="457200" cy="457200"/>
          </a:xfrm>
          <a:prstGeom prst="rect">
            <a:avLst/>
          </a:prstGeom>
          <a:noFill/>
        </p:spPr>
        <p:txBody>
          <a:bodyPr wrap="square" anchor="t" lIns="0" rIns="0" tIns="0" bIns="0">
            <a:spAutoFit/>
          </a:bodyPr>
          <a:lstStyle/>
          <a:p>
            <a:pPr algn="l"/>
            <a:r>
              <a:rPr sz="1800" b="1">
                <a:solidFill>
                  <a:srgbClr val="D9603F"/>
                </a:solidFill>
                <a:latin typeface="Georgia"/>
              </a:rPr>
              <a:t>05</a:t>
            </a:r>
          </a:p>
        </p:txBody>
      </p:sp>
      <p:sp>
        <p:nvSpPr>
          <p:cNvPr id="18" name="TextBox 17"/>
          <p:cNvSpPr txBox="1"/>
          <p:nvPr/>
        </p:nvSpPr>
        <p:spPr>
          <a:xfrm>
            <a:off x="1097280" y="5669280"/>
            <a:ext cx="10515600" cy="411480"/>
          </a:xfrm>
          <a:prstGeom prst="rect">
            <a:avLst/>
          </a:prstGeom>
          <a:noFill/>
        </p:spPr>
        <p:txBody>
          <a:bodyPr wrap="square" anchor="t" lIns="0" rIns="0" tIns="0" bIns="0">
            <a:spAutoFit/>
          </a:bodyPr>
          <a:lstStyle/>
          <a:p>
            <a:pPr algn="l"/>
            <a:r>
              <a:rPr sz="1500" b="1">
                <a:solidFill>
                  <a:srgbClr val="1A2530"/>
                </a:solidFill>
                <a:latin typeface="Calibri"/>
              </a:rPr>
              <a:t>Midyear performance collapsed</a:t>
            </a:r>
          </a:p>
        </p:txBody>
      </p:sp>
      <p:sp>
        <p:nvSpPr>
          <p:cNvPr id="19" name="TextBox 18"/>
          <p:cNvSpPr txBox="1"/>
          <p:nvPr/>
        </p:nvSpPr>
        <p:spPr>
          <a:xfrm>
            <a:off x="1097280" y="6080760"/>
            <a:ext cx="10515600" cy="457200"/>
          </a:xfrm>
          <a:prstGeom prst="rect">
            <a:avLst/>
          </a:prstGeom>
          <a:noFill/>
        </p:spPr>
        <p:txBody>
          <a:bodyPr wrap="square" anchor="t" lIns="0" rIns="0" tIns="0" bIns="0">
            <a:spAutoFit/>
          </a:bodyPr>
          <a:lstStyle/>
          <a:p>
            <a:pPr algn="l"/>
            <a:r>
              <a:rPr sz="1100" b="0">
                <a:solidFill>
                  <a:srgbClr val="4A5460"/>
                </a:solidFill>
                <a:latin typeface="Calibri"/>
              </a:rPr>
              <a:t>April through September averaged $75K monthly against a $93K target. Something specific happened in Q2 and Q3.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3657600" cy="365760"/>
          </a:xfrm>
          <a:prstGeom prst="rect">
            <a:avLst/>
          </a:prstGeom>
          <a:noFill/>
        </p:spPr>
        <p:txBody>
          <a:bodyPr wrap="square" anchor="t" lIns="0" rIns="0" tIns="0" bIns="0">
            <a:spAutoFit/>
          </a:bodyPr>
          <a:lstStyle/>
          <a:p>
            <a:pPr algn="l"/>
            <a:r>
              <a:rPr sz="1100" b="1">
                <a:solidFill>
                  <a:srgbClr val="D9603F"/>
                </a:solidFill>
                <a:latin typeface="Calibri"/>
              </a:rPr>
              <a:t>11 · Recommendations</a:t>
            </a:r>
          </a:p>
        </p:txBody>
      </p:sp>
      <p:sp>
        <p:nvSpPr>
          <p:cNvPr id="4" name="TextBox 3"/>
          <p:cNvSpPr txBox="1"/>
          <p:nvPr/>
        </p:nvSpPr>
        <p:spPr>
          <a:xfrm>
            <a:off x="548640" y="914400"/>
            <a:ext cx="10058400" cy="731520"/>
          </a:xfrm>
          <a:prstGeom prst="rect">
            <a:avLst/>
          </a:prstGeom>
          <a:noFill/>
        </p:spPr>
        <p:txBody>
          <a:bodyPr wrap="square" anchor="t" lIns="0" rIns="0" tIns="0" bIns="0">
            <a:spAutoFit/>
          </a:bodyPr>
          <a:lstStyle/>
          <a:p>
            <a:pPr algn="l"/>
            <a:r>
              <a:rPr sz="3200" b="1">
                <a:solidFill>
                  <a:srgbClr val="1A2530"/>
                </a:solidFill>
                <a:latin typeface="Georgia"/>
              </a:rPr>
              <a:t>What to do next</a:t>
            </a:r>
          </a:p>
        </p:txBody>
      </p:sp>
      <p:sp>
        <p:nvSpPr>
          <p:cNvPr id="5" name="TextBox 4"/>
          <p:cNvSpPr txBox="1"/>
          <p:nvPr/>
        </p:nvSpPr>
        <p:spPr>
          <a:xfrm>
            <a:off x="548640" y="2194560"/>
            <a:ext cx="457200" cy="457200"/>
          </a:xfrm>
          <a:prstGeom prst="rect">
            <a:avLst/>
          </a:prstGeom>
          <a:noFill/>
        </p:spPr>
        <p:txBody>
          <a:bodyPr wrap="square" anchor="t" lIns="0" rIns="0" tIns="0" bIns="0">
            <a:spAutoFit/>
          </a:bodyPr>
          <a:lstStyle/>
          <a:p>
            <a:pPr algn="l"/>
            <a:r>
              <a:rPr sz="1800" b="1">
                <a:solidFill>
                  <a:srgbClr val="D9603F"/>
                </a:solidFill>
                <a:latin typeface="Georgia"/>
              </a:rPr>
              <a:t>01</a:t>
            </a:r>
          </a:p>
        </p:txBody>
      </p:sp>
      <p:sp>
        <p:nvSpPr>
          <p:cNvPr id="6" name="TextBox 5"/>
          <p:cNvSpPr txBox="1"/>
          <p:nvPr/>
        </p:nvSpPr>
        <p:spPr>
          <a:xfrm>
            <a:off x="1097280" y="2194560"/>
            <a:ext cx="8686800" cy="411480"/>
          </a:xfrm>
          <a:prstGeom prst="rect">
            <a:avLst/>
          </a:prstGeom>
          <a:noFill/>
        </p:spPr>
        <p:txBody>
          <a:bodyPr wrap="square" anchor="t" lIns="0" rIns="0" tIns="0" bIns="0">
            <a:spAutoFit/>
          </a:bodyPr>
          <a:lstStyle/>
          <a:p>
            <a:pPr algn="l"/>
            <a:r>
              <a:rPr sz="1500" b="1">
                <a:solidFill>
                  <a:srgbClr val="1A2530"/>
                </a:solidFill>
                <a:latin typeface="Calibri"/>
              </a:rPr>
              <a:t>Diagnose the Q2-Q3 revenue drop</a:t>
            </a:r>
          </a:p>
        </p:txBody>
      </p:sp>
      <p:sp>
        <p:nvSpPr>
          <p:cNvPr id="7" name="TextBox 6"/>
          <p:cNvSpPr txBox="1"/>
          <p:nvPr/>
        </p:nvSpPr>
        <p:spPr>
          <a:xfrm>
            <a:off x="1097280" y="2606040"/>
            <a:ext cx="8686800" cy="457200"/>
          </a:xfrm>
          <a:prstGeom prst="rect">
            <a:avLst/>
          </a:prstGeom>
          <a:noFill/>
        </p:spPr>
        <p:txBody>
          <a:bodyPr wrap="square" anchor="t" lIns="0" rIns="0" tIns="0" bIns="0">
            <a:spAutoFit/>
          </a:bodyPr>
          <a:lstStyle/>
          <a:p>
            <a:pPr algn="l"/>
            <a:r>
              <a:rPr sz="1100" b="0">
                <a:solidFill>
                  <a:srgbClr val="4A5460"/>
                </a:solidFill>
                <a:latin typeface="Calibri"/>
              </a:rPr>
              <a:t>Six straight months under target is not seasonality. Find the cause: sales team capacity, product issue, or a lost account.</a:t>
            </a:r>
          </a:p>
        </p:txBody>
      </p:sp>
      <p:sp>
        <p:nvSpPr>
          <p:cNvPr id="8" name="Rectangle 7"/>
          <p:cNvSpPr/>
          <p:nvPr/>
        </p:nvSpPr>
        <p:spPr>
          <a:xfrm>
            <a:off x="10058400" y="2286000"/>
            <a:ext cx="1371600" cy="365760"/>
          </a:xfrm>
          <a:prstGeom prst="rect">
            <a:avLst/>
          </a:prstGeom>
          <a:solidFill>
            <a:srgbClr val="D960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2313432"/>
            <a:ext cx="1371600" cy="365760"/>
          </a:xfrm>
          <a:prstGeom prst="rect">
            <a:avLst/>
          </a:prstGeom>
          <a:noFill/>
        </p:spPr>
        <p:txBody>
          <a:bodyPr wrap="square" anchor="t" lIns="0" rIns="0" tIns="0" bIns="0">
            <a:spAutoFit/>
          </a:bodyPr>
          <a:lstStyle/>
          <a:p>
            <a:pPr algn="ctr"/>
            <a:r>
              <a:rPr sz="1000" b="1">
                <a:solidFill>
                  <a:srgbClr val="FFFFFF"/>
                </a:solidFill>
                <a:latin typeface="Calibri"/>
              </a:rPr>
              <a:t>High</a:t>
            </a:r>
          </a:p>
        </p:txBody>
      </p:sp>
      <p:sp>
        <p:nvSpPr>
          <p:cNvPr id="10" name="TextBox 9"/>
          <p:cNvSpPr txBox="1"/>
          <p:nvPr/>
        </p:nvSpPr>
        <p:spPr>
          <a:xfrm>
            <a:off x="548640" y="3063240"/>
            <a:ext cx="457200" cy="457200"/>
          </a:xfrm>
          <a:prstGeom prst="rect">
            <a:avLst/>
          </a:prstGeom>
          <a:noFill/>
        </p:spPr>
        <p:txBody>
          <a:bodyPr wrap="square" anchor="t" lIns="0" rIns="0" tIns="0" bIns="0">
            <a:spAutoFit/>
          </a:bodyPr>
          <a:lstStyle/>
          <a:p>
            <a:pPr algn="l"/>
            <a:r>
              <a:rPr sz="1800" b="1">
                <a:solidFill>
                  <a:srgbClr val="D9603F"/>
                </a:solidFill>
                <a:latin typeface="Georgia"/>
              </a:rPr>
              <a:t>02</a:t>
            </a:r>
          </a:p>
        </p:txBody>
      </p:sp>
      <p:sp>
        <p:nvSpPr>
          <p:cNvPr id="11" name="TextBox 10"/>
          <p:cNvSpPr txBox="1"/>
          <p:nvPr/>
        </p:nvSpPr>
        <p:spPr>
          <a:xfrm>
            <a:off x="1097280" y="3063240"/>
            <a:ext cx="8686800" cy="411480"/>
          </a:xfrm>
          <a:prstGeom prst="rect">
            <a:avLst/>
          </a:prstGeom>
          <a:noFill/>
        </p:spPr>
        <p:txBody>
          <a:bodyPr wrap="square" anchor="t" lIns="0" rIns="0" tIns="0" bIns="0">
            <a:spAutoFit/>
          </a:bodyPr>
          <a:lstStyle/>
          <a:p>
            <a:pPr algn="l"/>
            <a:r>
              <a:rPr sz="1500" b="1">
                <a:solidFill>
                  <a:srgbClr val="1A2530"/>
                </a:solidFill>
                <a:latin typeface="Calibri"/>
              </a:rPr>
              <a:t>Build a top-10-customer retention plan</a:t>
            </a:r>
          </a:p>
        </p:txBody>
      </p:sp>
      <p:sp>
        <p:nvSpPr>
          <p:cNvPr id="12" name="TextBox 11"/>
          <p:cNvSpPr txBox="1"/>
          <p:nvPr/>
        </p:nvSpPr>
        <p:spPr>
          <a:xfrm>
            <a:off x="1097280" y="3474720"/>
            <a:ext cx="8686800" cy="457200"/>
          </a:xfrm>
          <a:prstGeom prst="rect">
            <a:avLst/>
          </a:prstGeom>
          <a:noFill/>
        </p:spPr>
        <p:txBody>
          <a:bodyPr wrap="square" anchor="t" lIns="0" rIns="0" tIns="0" bIns="0">
            <a:spAutoFit/>
          </a:bodyPr>
          <a:lstStyle/>
          <a:p>
            <a:pPr algn="l"/>
            <a:r>
              <a:rPr sz="1100" b="0">
                <a:solidFill>
                  <a:srgbClr val="4A5460"/>
                </a:solidFill>
                <a:latin typeface="Calibri"/>
              </a:rPr>
              <a:t>53% of revenue from 10 accounts is a risk that needs active management. Set up quarterly health checks.</a:t>
            </a:r>
          </a:p>
        </p:txBody>
      </p:sp>
      <p:sp>
        <p:nvSpPr>
          <p:cNvPr id="13" name="Rectangle 12"/>
          <p:cNvSpPr/>
          <p:nvPr/>
        </p:nvSpPr>
        <p:spPr>
          <a:xfrm>
            <a:off x="10058400" y="3154680"/>
            <a:ext cx="1371600" cy="365760"/>
          </a:xfrm>
          <a:prstGeom prst="rect">
            <a:avLst/>
          </a:prstGeom>
          <a:solidFill>
            <a:srgbClr val="D960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0" y="3182112"/>
            <a:ext cx="1371600" cy="365760"/>
          </a:xfrm>
          <a:prstGeom prst="rect">
            <a:avLst/>
          </a:prstGeom>
          <a:noFill/>
        </p:spPr>
        <p:txBody>
          <a:bodyPr wrap="square" anchor="t" lIns="0" rIns="0" tIns="0" bIns="0">
            <a:spAutoFit/>
          </a:bodyPr>
          <a:lstStyle/>
          <a:p>
            <a:pPr algn="ctr"/>
            <a:r>
              <a:rPr sz="1000" b="1">
                <a:solidFill>
                  <a:srgbClr val="FFFFFF"/>
                </a:solidFill>
                <a:latin typeface="Calibri"/>
              </a:rPr>
              <a:t>High</a:t>
            </a:r>
          </a:p>
        </p:txBody>
      </p:sp>
      <p:sp>
        <p:nvSpPr>
          <p:cNvPr id="15" name="TextBox 14"/>
          <p:cNvSpPr txBox="1"/>
          <p:nvPr/>
        </p:nvSpPr>
        <p:spPr>
          <a:xfrm>
            <a:off x="548640" y="3931920"/>
            <a:ext cx="457200" cy="457200"/>
          </a:xfrm>
          <a:prstGeom prst="rect">
            <a:avLst/>
          </a:prstGeom>
          <a:noFill/>
        </p:spPr>
        <p:txBody>
          <a:bodyPr wrap="square" anchor="t" lIns="0" rIns="0" tIns="0" bIns="0">
            <a:spAutoFit/>
          </a:bodyPr>
          <a:lstStyle/>
          <a:p>
            <a:pPr algn="l"/>
            <a:r>
              <a:rPr sz="1800" b="1">
                <a:solidFill>
                  <a:srgbClr val="D9603F"/>
                </a:solidFill>
                <a:latin typeface="Georgia"/>
              </a:rPr>
              <a:t>03</a:t>
            </a:r>
          </a:p>
        </p:txBody>
      </p:sp>
      <p:sp>
        <p:nvSpPr>
          <p:cNvPr id="16" name="TextBox 15"/>
          <p:cNvSpPr txBox="1"/>
          <p:nvPr/>
        </p:nvSpPr>
        <p:spPr>
          <a:xfrm>
            <a:off x="1097280" y="3931920"/>
            <a:ext cx="8686800" cy="411480"/>
          </a:xfrm>
          <a:prstGeom prst="rect">
            <a:avLst/>
          </a:prstGeom>
          <a:noFill/>
        </p:spPr>
        <p:txBody>
          <a:bodyPr wrap="square" anchor="t" lIns="0" rIns="0" tIns="0" bIns="0">
            <a:spAutoFit/>
          </a:bodyPr>
          <a:lstStyle/>
          <a:p>
            <a:pPr algn="l"/>
            <a:r>
              <a:rPr sz="1500" b="1">
                <a:solidFill>
                  <a:srgbClr val="1A2530"/>
                </a:solidFill>
                <a:latin typeface="Calibri"/>
              </a:rPr>
              <a:t>Diversify beyond India</a:t>
            </a:r>
          </a:p>
        </p:txBody>
      </p:sp>
      <p:sp>
        <p:nvSpPr>
          <p:cNvPr id="17" name="TextBox 16"/>
          <p:cNvSpPr txBox="1"/>
          <p:nvPr/>
        </p:nvSpPr>
        <p:spPr>
          <a:xfrm>
            <a:off x="1097280" y="4343400"/>
            <a:ext cx="8686800" cy="457200"/>
          </a:xfrm>
          <a:prstGeom prst="rect">
            <a:avLst/>
          </a:prstGeom>
          <a:noFill/>
        </p:spPr>
        <p:txBody>
          <a:bodyPr wrap="square" anchor="t" lIns="0" rIns="0" tIns="0" bIns="0">
            <a:spAutoFit/>
          </a:bodyPr>
          <a:lstStyle/>
          <a:p>
            <a:pPr algn="l"/>
            <a:r>
              <a:rPr sz="1100" b="0">
                <a:solidFill>
                  <a:srgbClr val="4A5460"/>
                </a:solidFill>
                <a:latin typeface="Calibri"/>
              </a:rPr>
              <a:t>46% concentration in one country is fragile. Set a 3-year goal to bring India under 35% of revenue.</a:t>
            </a:r>
          </a:p>
        </p:txBody>
      </p:sp>
      <p:sp>
        <p:nvSpPr>
          <p:cNvPr id="18" name="Rectangle 17"/>
          <p:cNvSpPr/>
          <p:nvPr/>
        </p:nvSpPr>
        <p:spPr>
          <a:xfrm>
            <a:off x="10058400" y="4023360"/>
            <a:ext cx="1371600" cy="365760"/>
          </a:xfrm>
          <a:prstGeom prst="rect">
            <a:avLst/>
          </a:prstGeom>
          <a:solidFill>
            <a:srgbClr val="C2A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0" y="4050792"/>
            <a:ext cx="1371600" cy="365760"/>
          </a:xfrm>
          <a:prstGeom prst="rect">
            <a:avLst/>
          </a:prstGeom>
          <a:noFill/>
        </p:spPr>
        <p:txBody>
          <a:bodyPr wrap="square" anchor="t" lIns="0" rIns="0" tIns="0" bIns="0">
            <a:spAutoFit/>
          </a:bodyPr>
          <a:lstStyle/>
          <a:p>
            <a:pPr algn="ctr"/>
            <a:r>
              <a:rPr sz="1000" b="1">
                <a:solidFill>
                  <a:srgbClr val="FFFFFF"/>
                </a:solidFill>
                <a:latin typeface="Calibri"/>
              </a:rPr>
              <a:t>Medium</a:t>
            </a:r>
          </a:p>
        </p:txBody>
      </p:sp>
      <p:sp>
        <p:nvSpPr>
          <p:cNvPr id="20" name="TextBox 19"/>
          <p:cNvSpPr txBox="1"/>
          <p:nvPr/>
        </p:nvSpPr>
        <p:spPr>
          <a:xfrm>
            <a:off x="548640" y="4800600"/>
            <a:ext cx="457200" cy="457200"/>
          </a:xfrm>
          <a:prstGeom prst="rect">
            <a:avLst/>
          </a:prstGeom>
          <a:noFill/>
        </p:spPr>
        <p:txBody>
          <a:bodyPr wrap="square" anchor="t" lIns="0" rIns="0" tIns="0" bIns="0">
            <a:spAutoFit/>
          </a:bodyPr>
          <a:lstStyle/>
          <a:p>
            <a:pPr algn="l"/>
            <a:r>
              <a:rPr sz="1800" b="1">
                <a:solidFill>
                  <a:srgbClr val="D9603F"/>
                </a:solidFill>
                <a:latin typeface="Georgia"/>
              </a:rPr>
              <a:t>04</a:t>
            </a:r>
          </a:p>
        </p:txBody>
      </p:sp>
      <p:sp>
        <p:nvSpPr>
          <p:cNvPr id="21" name="TextBox 20"/>
          <p:cNvSpPr txBox="1"/>
          <p:nvPr/>
        </p:nvSpPr>
        <p:spPr>
          <a:xfrm>
            <a:off x="1097280" y="4800600"/>
            <a:ext cx="8686800" cy="411480"/>
          </a:xfrm>
          <a:prstGeom prst="rect">
            <a:avLst/>
          </a:prstGeom>
          <a:noFill/>
        </p:spPr>
        <p:txBody>
          <a:bodyPr wrap="square" anchor="t" lIns="0" rIns="0" tIns="0" bIns="0">
            <a:spAutoFit/>
          </a:bodyPr>
          <a:lstStyle/>
          <a:p>
            <a:pPr algn="l"/>
            <a:r>
              <a:rPr sz="1500" b="1">
                <a:solidFill>
                  <a:srgbClr val="1A2530"/>
                </a:solidFill>
                <a:latin typeface="Calibri"/>
              </a:rPr>
              <a:t>Recalibrate monthly targets</a:t>
            </a:r>
          </a:p>
        </p:txBody>
      </p:sp>
      <p:sp>
        <p:nvSpPr>
          <p:cNvPr id="22" name="TextBox 21"/>
          <p:cNvSpPr txBox="1"/>
          <p:nvPr/>
        </p:nvSpPr>
        <p:spPr>
          <a:xfrm>
            <a:off x="1097280" y="5212080"/>
            <a:ext cx="8686800" cy="457200"/>
          </a:xfrm>
          <a:prstGeom prst="rect">
            <a:avLst/>
          </a:prstGeom>
          <a:noFill/>
        </p:spPr>
        <p:txBody>
          <a:bodyPr wrap="square" anchor="t" lIns="0" rIns="0" tIns="0" bIns="0">
            <a:spAutoFit/>
          </a:bodyPr>
          <a:lstStyle/>
          <a:p>
            <a:pPr algn="l"/>
            <a:r>
              <a:rPr sz="1100" b="0">
                <a:solidFill>
                  <a:srgbClr val="4A5460"/>
                </a:solidFill>
                <a:latin typeface="Calibri"/>
              </a:rPr>
              <a:t>Q4 targets were set 11% lower than Q1. If that was deliberate, document why. If not, fix the planning process.</a:t>
            </a:r>
          </a:p>
        </p:txBody>
      </p:sp>
      <p:sp>
        <p:nvSpPr>
          <p:cNvPr id="23" name="Rectangle 22"/>
          <p:cNvSpPr/>
          <p:nvPr/>
        </p:nvSpPr>
        <p:spPr>
          <a:xfrm>
            <a:off x="10058400" y="4892040"/>
            <a:ext cx="1371600" cy="365760"/>
          </a:xfrm>
          <a:prstGeom prst="rect">
            <a:avLst/>
          </a:prstGeom>
          <a:solidFill>
            <a:srgbClr val="C2A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0" y="4919472"/>
            <a:ext cx="1371600" cy="365760"/>
          </a:xfrm>
          <a:prstGeom prst="rect">
            <a:avLst/>
          </a:prstGeom>
          <a:noFill/>
        </p:spPr>
        <p:txBody>
          <a:bodyPr wrap="square" anchor="t" lIns="0" rIns="0" tIns="0" bIns="0">
            <a:spAutoFit/>
          </a:bodyPr>
          <a:lstStyle/>
          <a:p>
            <a:pPr algn="ctr"/>
            <a:r>
              <a:rPr sz="1000" b="1">
                <a:solidFill>
                  <a:srgbClr val="FFFFFF"/>
                </a:solidFill>
                <a:latin typeface="Calibri"/>
              </a:rPr>
              <a:t>Medium</a:t>
            </a:r>
          </a:p>
        </p:txBody>
      </p:sp>
      <p:sp>
        <p:nvSpPr>
          <p:cNvPr id="25" name="TextBox 24"/>
          <p:cNvSpPr txBox="1"/>
          <p:nvPr/>
        </p:nvSpPr>
        <p:spPr>
          <a:xfrm>
            <a:off x="548640" y="5669280"/>
            <a:ext cx="457200" cy="457200"/>
          </a:xfrm>
          <a:prstGeom prst="rect">
            <a:avLst/>
          </a:prstGeom>
          <a:noFill/>
        </p:spPr>
        <p:txBody>
          <a:bodyPr wrap="square" anchor="t" lIns="0" rIns="0" tIns="0" bIns="0">
            <a:spAutoFit/>
          </a:bodyPr>
          <a:lstStyle/>
          <a:p>
            <a:pPr algn="l"/>
            <a:r>
              <a:rPr sz="1800" b="1">
                <a:solidFill>
                  <a:srgbClr val="D9603F"/>
                </a:solidFill>
                <a:latin typeface="Georgia"/>
              </a:rPr>
              <a:t>05</a:t>
            </a:r>
          </a:p>
        </p:txBody>
      </p:sp>
      <p:sp>
        <p:nvSpPr>
          <p:cNvPr id="26" name="TextBox 25"/>
          <p:cNvSpPr txBox="1"/>
          <p:nvPr/>
        </p:nvSpPr>
        <p:spPr>
          <a:xfrm>
            <a:off x="1097280" y="5669280"/>
            <a:ext cx="8686800" cy="411480"/>
          </a:xfrm>
          <a:prstGeom prst="rect">
            <a:avLst/>
          </a:prstGeom>
          <a:noFill/>
        </p:spPr>
        <p:txBody>
          <a:bodyPr wrap="square" anchor="t" lIns="0" rIns="0" tIns="0" bIns="0">
            <a:spAutoFit/>
          </a:bodyPr>
          <a:lstStyle/>
          <a:p>
            <a:pPr algn="l"/>
            <a:r>
              <a:rPr sz="1500" b="1">
                <a:solidFill>
                  <a:srgbClr val="1A2530"/>
                </a:solidFill>
                <a:latin typeface="Calibri"/>
              </a:rPr>
              <a:t>Add customer profitability tracking</a:t>
            </a:r>
          </a:p>
        </p:txBody>
      </p:sp>
      <p:sp>
        <p:nvSpPr>
          <p:cNvPr id="27" name="TextBox 26"/>
          <p:cNvSpPr txBox="1"/>
          <p:nvPr/>
        </p:nvSpPr>
        <p:spPr>
          <a:xfrm>
            <a:off x="1097280" y="6080760"/>
            <a:ext cx="8686800" cy="457200"/>
          </a:xfrm>
          <a:prstGeom prst="rect">
            <a:avLst/>
          </a:prstGeom>
          <a:noFill/>
        </p:spPr>
        <p:txBody>
          <a:bodyPr wrap="square" anchor="t" lIns="0" rIns="0" tIns="0" bIns="0">
            <a:spAutoFit/>
          </a:bodyPr>
          <a:lstStyle/>
          <a:p>
            <a:pPr algn="l"/>
            <a:r>
              <a:rPr sz="1100" b="0">
                <a:solidFill>
                  <a:srgbClr val="4A5460"/>
                </a:solidFill>
                <a:latin typeface="Calibri"/>
              </a:rPr>
              <a:t>Revenue tells only half the story. Pair it with margin per customer to find which big accounts are actually profitable.</a:t>
            </a:r>
          </a:p>
        </p:txBody>
      </p:sp>
      <p:sp>
        <p:nvSpPr>
          <p:cNvPr id="28" name="Rectangle 27"/>
          <p:cNvSpPr/>
          <p:nvPr/>
        </p:nvSpPr>
        <p:spPr>
          <a:xfrm>
            <a:off x="10058400" y="5760720"/>
            <a:ext cx="1371600" cy="365760"/>
          </a:xfrm>
          <a:prstGeom prst="rect">
            <a:avLst/>
          </a:prstGeom>
          <a:solidFill>
            <a:srgbClr val="3D6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0" y="5788152"/>
            <a:ext cx="1371600" cy="365760"/>
          </a:xfrm>
          <a:prstGeom prst="rect">
            <a:avLst/>
          </a:prstGeom>
          <a:noFill/>
        </p:spPr>
        <p:txBody>
          <a:bodyPr wrap="square" anchor="t" lIns="0" rIns="0" tIns="0" bIns="0">
            <a:spAutoFit/>
          </a:bodyPr>
          <a:lstStyle/>
          <a:p>
            <a:pPr algn="ctr"/>
            <a:r>
              <a:rPr sz="1000" b="1">
                <a:solidFill>
                  <a:srgbClr val="FFFFFF"/>
                </a:solidFill>
                <a:latin typeface="Calibri"/>
              </a:rPr>
              <a:t>Low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3657600" cy="365760"/>
          </a:xfrm>
          <a:prstGeom prst="rect">
            <a:avLst/>
          </a:prstGeom>
          <a:noFill/>
        </p:spPr>
        <p:txBody>
          <a:bodyPr wrap="square" anchor="t" lIns="0" rIns="0" tIns="0" bIns="0">
            <a:spAutoFit/>
          </a:bodyPr>
          <a:lstStyle/>
          <a:p>
            <a:pPr algn="l"/>
            <a:r>
              <a:rPr sz="1100" b="1">
                <a:solidFill>
                  <a:srgbClr val="D9603F"/>
                </a:solidFill>
                <a:latin typeface="Calibri"/>
              </a:rPr>
              <a:t>12 · Tech stack</a:t>
            </a:r>
          </a:p>
        </p:txBody>
      </p:sp>
      <p:sp>
        <p:nvSpPr>
          <p:cNvPr id="4" name="TextBox 3"/>
          <p:cNvSpPr txBox="1"/>
          <p:nvPr/>
        </p:nvSpPr>
        <p:spPr>
          <a:xfrm>
            <a:off x="548640" y="914400"/>
            <a:ext cx="10058400" cy="731520"/>
          </a:xfrm>
          <a:prstGeom prst="rect">
            <a:avLst/>
          </a:prstGeom>
          <a:noFill/>
        </p:spPr>
        <p:txBody>
          <a:bodyPr wrap="square" anchor="t" lIns="0" rIns="0" tIns="0" bIns="0">
            <a:spAutoFit/>
          </a:bodyPr>
          <a:lstStyle/>
          <a:p>
            <a:pPr algn="l"/>
            <a:r>
              <a:rPr sz="3200" b="1">
                <a:solidFill>
                  <a:srgbClr val="1A2530"/>
                </a:solidFill>
                <a:latin typeface="Georgia"/>
              </a:rPr>
              <a:t>How it was built</a:t>
            </a:r>
          </a:p>
        </p:txBody>
      </p:sp>
      <p:sp>
        <p:nvSpPr>
          <p:cNvPr id="5" name="Rectangle 4"/>
          <p:cNvSpPr/>
          <p:nvPr/>
        </p:nvSpPr>
        <p:spPr>
          <a:xfrm>
            <a:off x="548640" y="2194560"/>
            <a:ext cx="3200400" cy="640080"/>
          </a:xfrm>
          <a:prstGeom prst="rect">
            <a:avLst/>
          </a:prstGeom>
          <a:solidFill>
            <a:srgbClr val="3D6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331720"/>
            <a:ext cx="3200400" cy="457200"/>
          </a:xfrm>
          <a:prstGeom prst="rect">
            <a:avLst/>
          </a:prstGeom>
          <a:noFill/>
        </p:spPr>
        <p:txBody>
          <a:bodyPr wrap="square" anchor="ctr" lIns="0" rIns="0" tIns="0" bIns="0">
            <a:spAutoFit/>
          </a:bodyPr>
          <a:lstStyle/>
          <a:p>
            <a:pPr algn="ctr"/>
            <a:r>
              <a:rPr sz="1400" b="1">
                <a:solidFill>
                  <a:srgbClr val="FFFFFF"/>
                </a:solidFill>
                <a:latin typeface="Calibri"/>
              </a:rPr>
              <a:t>Excel</a:t>
            </a:r>
          </a:p>
        </p:txBody>
      </p:sp>
      <p:sp>
        <p:nvSpPr>
          <p:cNvPr id="7" name="TextBox 6"/>
          <p:cNvSpPr txBox="1"/>
          <p:nvPr/>
        </p:nvSpPr>
        <p:spPr>
          <a:xfrm>
            <a:off x="3931920" y="2331720"/>
            <a:ext cx="7772400" cy="457200"/>
          </a:xfrm>
          <a:prstGeom prst="rect">
            <a:avLst/>
          </a:prstGeom>
          <a:noFill/>
        </p:spPr>
        <p:txBody>
          <a:bodyPr wrap="square" anchor="ctr" lIns="0" rIns="0" tIns="0" bIns="0">
            <a:spAutoFit/>
          </a:bodyPr>
          <a:lstStyle/>
          <a:p>
            <a:pPr algn="l"/>
            <a:r>
              <a:rPr sz="1300" b="0">
                <a:solidFill>
                  <a:srgbClr val="4A5460"/>
                </a:solidFill>
                <a:latin typeface="Calibri"/>
              </a:rPr>
              <a:t>Source data storage, pivot tables, dashboard layout</a:t>
            </a:r>
          </a:p>
        </p:txBody>
      </p:sp>
      <p:sp>
        <p:nvSpPr>
          <p:cNvPr id="8" name="Rectangle 7"/>
          <p:cNvSpPr/>
          <p:nvPr/>
        </p:nvSpPr>
        <p:spPr>
          <a:xfrm>
            <a:off x="548640" y="2971800"/>
            <a:ext cx="3200400" cy="640080"/>
          </a:xfrm>
          <a:prstGeom prst="rect">
            <a:avLst/>
          </a:prstGeom>
          <a:solidFill>
            <a:srgbClr val="3D6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108960"/>
            <a:ext cx="3200400" cy="457200"/>
          </a:xfrm>
          <a:prstGeom prst="rect">
            <a:avLst/>
          </a:prstGeom>
          <a:noFill/>
        </p:spPr>
        <p:txBody>
          <a:bodyPr wrap="square" anchor="ctr" lIns="0" rIns="0" tIns="0" bIns="0">
            <a:spAutoFit/>
          </a:bodyPr>
          <a:lstStyle/>
          <a:p>
            <a:pPr algn="ctr"/>
            <a:r>
              <a:rPr sz="1400" b="1">
                <a:solidFill>
                  <a:srgbClr val="FFFFFF"/>
                </a:solidFill>
                <a:latin typeface="Calibri"/>
              </a:rPr>
              <a:t>Power Query</a:t>
            </a:r>
          </a:p>
        </p:txBody>
      </p:sp>
      <p:sp>
        <p:nvSpPr>
          <p:cNvPr id="10" name="TextBox 9"/>
          <p:cNvSpPr txBox="1"/>
          <p:nvPr/>
        </p:nvSpPr>
        <p:spPr>
          <a:xfrm>
            <a:off x="3931920" y="3108960"/>
            <a:ext cx="7772400" cy="457200"/>
          </a:xfrm>
          <a:prstGeom prst="rect">
            <a:avLst/>
          </a:prstGeom>
          <a:noFill/>
        </p:spPr>
        <p:txBody>
          <a:bodyPr wrap="square" anchor="ctr" lIns="0" rIns="0" tIns="0" bIns="0">
            <a:spAutoFit/>
          </a:bodyPr>
          <a:lstStyle/>
          <a:p>
            <a:pPr algn="l"/>
            <a:r>
              <a:rPr sz="1300" b="0">
                <a:solidFill>
                  <a:srgbClr val="4A5460"/>
                </a:solidFill>
                <a:latin typeface="Calibri"/>
              </a:rPr>
              <a:t>Date parsing, month and week derivation</a:t>
            </a:r>
          </a:p>
        </p:txBody>
      </p:sp>
      <p:sp>
        <p:nvSpPr>
          <p:cNvPr id="11" name="Rectangle 10"/>
          <p:cNvSpPr/>
          <p:nvPr/>
        </p:nvSpPr>
        <p:spPr>
          <a:xfrm>
            <a:off x="548640" y="3749040"/>
            <a:ext cx="3200400" cy="640080"/>
          </a:xfrm>
          <a:prstGeom prst="rect">
            <a:avLst/>
          </a:prstGeom>
          <a:solidFill>
            <a:srgbClr val="3D6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886200"/>
            <a:ext cx="3200400" cy="457200"/>
          </a:xfrm>
          <a:prstGeom prst="rect">
            <a:avLst/>
          </a:prstGeom>
          <a:noFill/>
        </p:spPr>
        <p:txBody>
          <a:bodyPr wrap="square" anchor="ctr" lIns="0" rIns="0" tIns="0" bIns="0">
            <a:spAutoFit/>
          </a:bodyPr>
          <a:lstStyle/>
          <a:p>
            <a:pPr algn="ctr"/>
            <a:r>
              <a:rPr sz="1400" b="1">
                <a:solidFill>
                  <a:srgbClr val="FFFFFF"/>
                </a:solidFill>
                <a:latin typeface="Calibri"/>
              </a:rPr>
              <a:t>Pivot Tables</a:t>
            </a:r>
          </a:p>
        </p:txBody>
      </p:sp>
      <p:sp>
        <p:nvSpPr>
          <p:cNvPr id="13" name="TextBox 12"/>
          <p:cNvSpPr txBox="1"/>
          <p:nvPr/>
        </p:nvSpPr>
        <p:spPr>
          <a:xfrm>
            <a:off x="3931920" y="3886200"/>
            <a:ext cx="7772400" cy="457200"/>
          </a:xfrm>
          <a:prstGeom prst="rect">
            <a:avLst/>
          </a:prstGeom>
          <a:noFill/>
        </p:spPr>
        <p:txBody>
          <a:bodyPr wrap="square" anchor="ctr" lIns="0" rIns="0" tIns="0" bIns="0">
            <a:spAutoFit/>
          </a:bodyPr>
          <a:lstStyle/>
          <a:p>
            <a:pPr algn="l"/>
            <a:r>
              <a:rPr sz="1300" b="0">
                <a:solidFill>
                  <a:srgbClr val="4A5460"/>
                </a:solidFill>
                <a:latin typeface="Calibri"/>
              </a:rPr>
              <a:t>Aggregation by customer, product, region, country and time</a:t>
            </a:r>
          </a:p>
        </p:txBody>
      </p:sp>
      <p:sp>
        <p:nvSpPr>
          <p:cNvPr id="14" name="Rectangle 13"/>
          <p:cNvSpPr/>
          <p:nvPr/>
        </p:nvSpPr>
        <p:spPr>
          <a:xfrm>
            <a:off x="548640" y="4526280"/>
            <a:ext cx="3200400" cy="640080"/>
          </a:xfrm>
          <a:prstGeom prst="rect">
            <a:avLst/>
          </a:prstGeom>
          <a:solidFill>
            <a:srgbClr val="3D6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663440"/>
            <a:ext cx="3200400" cy="457200"/>
          </a:xfrm>
          <a:prstGeom prst="rect">
            <a:avLst/>
          </a:prstGeom>
          <a:noFill/>
        </p:spPr>
        <p:txBody>
          <a:bodyPr wrap="square" anchor="ctr" lIns="0" rIns="0" tIns="0" bIns="0">
            <a:spAutoFit/>
          </a:bodyPr>
          <a:lstStyle/>
          <a:p>
            <a:pPr algn="ctr"/>
            <a:r>
              <a:rPr sz="1400" b="1">
                <a:solidFill>
                  <a:srgbClr val="FFFFFF"/>
                </a:solidFill>
                <a:latin typeface="Calibri"/>
              </a:rPr>
              <a:t>Slicers</a:t>
            </a:r>
          </a:p>
        </p:txBody>
      </p:sp>
      <p:sp>
        <p:nvSpPr>
          <p:cNvPr id="16" name="TextBox 15"/>
          <p:cNvSpPr txBox="1"/>
          <p:nvPr/>
        </p:nvSpPr>
        <p:spPr>
          <a:xfrm>
            <a:off x="3931920" y="4663440"/>
            <a:ext cx="7772400" cy="457200"/>
          </a:xfrm>
          <a:prstGeom prst="rect">
            <a:avLst/>
          </a:prstGeom>
          <a:noFill/>
        </p:spPr>
        <p:txBody>
          <a:bodyPr wrap="square" anchor="ctr" lIns="0" rIns="0" tIns="0" bIns="0">
            <a:spAutoFit/>
          </a:bodyPr>
          <a:lstStyle/>
          <a:p>
            <a:pPr algn="l"/>
            <a:r>
              <a:rPr sz="1300" b="0">
                <a:solidFill>
                  <a:srgbClr val="4A5460"/>
                </a:solidFill>
                <a:latin typeface="Calibri"/>
              </a:rPr>
              <a:t>Cross-filter the dashboard by region, country and month</a:t>
            </a:r>
          </a:p>
        </p:txBody>
      </p:sp>
      <p:sp>
        <p:nvSpPr>
          <p:cNvPr id="17" name="Rectangle 16"/>
          <p:cNvSpPr/>
          <p:nvPr/>
        </p:nvSpPr>
        <p:spPr>
          <a:xfrm>
            <a:off x="548640" y="5303520"/>
            <a:ext cx="3200400" cy="640080"/>
          </a:xfrm>
          <a:prstGeom prst="rect">
            <a:avLst/>
          </a:prstGeom>
          <a:solidFill>
            <a:srgbClr val="3D6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440680"/>
            <a:ext cx="3200400" cy="457200"/>
          </a:xfrm>
          <a:prstGeom prst="rect">
            <a:avLst/>
          </a:prstGeom>
          <a:noFill/>
        </p:spPr>
        <p:txBody>
          <a:bodyPr wrap="square" anchor="ctr" lIns="0" rIns="0" tIns="0" bIns="0">
            <a:spAutoFit/>
          </a:bodyPr>
          <a:lstStyle/>
          <a:p>
            <a:pPr algn="ctr"/>
            <a:r>
              <a:rPr sz="1400" b="1">
                <a:solidFill>
                  <a:srgbClr val="FFFFFF"/>
                </a:solidFill>
                <a:latin typeface="Calibri"/>
              </a:rPr>
              <a:t>Conditional Formatting</a:t>
            </a:r>
          </a:p>
        </p:txBody>
      </p:sp>
      <p:sp>
        <p:nvSpPr>
          <p:cNvPr id="19" name="TextBox 18"/>
          <p:cNvSpPr txBox="1"/>
          <p:nvPr/>
        </p:nvSpPr>
        <p:spPr>
          <a:xfrm>
            <a:off x="3931920" y="5440680"/>
            <a:ext cx="7772400" cy="457200"/>
          </a:xfrm>
          <a:prstGeom prst="rect">
            <a:avLst/>
          </a:prstGeom>
          <a:noFill/>
        </p:spPr>
        <p:txBody>
          <a:bodyPr wrap="square" anchor="ctr" lIns="0" rIns="0" tIns="0" bIns="0">
            <a:spAutoFit/>
          </a:bodyPr>
          <a:lstStyle/>
          <a:p>
            <a:pPr algn="l"/>
            <a:r>
              <a:rPr sz="1300" b="0">
                <a:solidFill>
                  <a:srgbClr val="4A5460"/>
                </a:solidFill>
                <a:latin typeface="Calibri"/>
              </a:rPr>
              <a:t>Above and below target highlighting in monthly views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822960"/>
            <a:ext cx="457200" cy="73152"/>
          </a:xfrm>
          <a:prstGeom prst="rect">
            <a:avLst/>
          </a:prstGeom>
          <a:solidFill>
            <a:srgbClr val="D960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0058400" cy="457200"/>
          </a:xfrm>
          <a:prstGeom prst="rect">
            <a:avLst/>
          </a:prstGeom>
          <a:noFill/>
        </p:spPr>
        <p:txBody>
          <a:bodyPr wrap="square" anchor="t" lIns="0" rIns="0" tIns="0" bIns="0">
            <a:spAutoFit/>
          </a:bodyPr>
          <a:lstStyle/>
          <a:p>
            <a:pPr algn="l"/>
            <a:r>
              <a:rPr sz="1200" b="1">
                <a:solidFill>
                  <a:srgbClr val="D9603F"/>
                </a:solidFill>
                <a:latin typeface="Calibri"/>
              </a:rPr>
              <a:t>CLOSING</a:t>
            </a:r>
          </a:p>
        </p:txBody>
      </p:sp>
      <p:sp>
        <p:nvSpPr>
          <p:cNvPr id="5" name="TextBox 4"/>
          <p:cNvSpPr txBox="1"/>
          <p:nvPr/>
        </p:nvSpPr>
        <p:spPr>
          <a:xfrm>
            <a:off x="548640" y="1828800"/>
            <a:ext cx="10972800" cy="2286000"/>
          </a:xfrm>
          <a:prstGeom prst="rect">
            <a:avLst/>
          </a:prstGeom>
          <a:noFill/>
        </p:spPr>
        <p:txBody>
          <a:bodyPr wrap="square" anchor="t" lIns="0" rIns="0" tIns="0" bIns="0">
            <a:spAutoFit/>
          </a:bodyPr>
          <a:lstStyle/>
          <a:p>
            <a:pPr algn="l"/>
            <a:r>
              <a:rPr sz="4000" b="1">
                <a:solidFill>
                  <a:srgbClr val="FFFFFF"/>
                </a:solidFill>
                <a:latin typeface="Georgia"/>
              </a:rPr>
              <a:t>When the foundation is right,
the dashboard is the easy part.</a:t>
            </a:r>
          </a:p>
        </p:txBody>
      </p:sp>
      <p:sp>
        <p:nvSpPr>
          <p:cNvPr id="6" name="Rectangle 5"/>
          <p:cNvSpPr/>
          <p:nvPr/>
        </p:nvSpPr>
        <p:spPr>
          <a:xfrm>
            <a:off x="548640" y="4206240"/>
            <a:ext cx="1828800" cy="36576"/>
          </a:xfrm>
          <a:prstGeom prst="rect">
            <a:avLst/>
          </a:prstGeom>
          <a:solidFill>
            <a:srgbClr val="D960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480560"/>
            <a:ext cx="10972800" cy="457200"/>
          </a:xfrm>
          <a:prstGeom prst="rect">
            <a:avLst/>
          </a:prstGeom>
          <a:noFill/>
        </p:spPr>
        <p:txBody>
          <a:bodyPr wrap="square" anchor="t" lIns="0" rIns="0" tIns="0" bIns="0">
            <a:spAutoFit/>
          </a:bodyPr>
          <a:lstStyle/>
          <a:p>
            <a:pPr algn="l"/>
            <a:r>
              <a:rPr sz="1800" b="1">
                <a:solidFill>
                  <a:srgbClr val="F4F1EA"/>
                </a:solidFill>
                <a:latin typeface="Georgia"/>
              </a:rPr>
              <a:t>Bih Brandy</a:t>
            </a:r>
          </a:p>
        </p:txBody>
      </p:sp>
      <p:sp>
        <p:nvSpPr>
          <p:cNvPr id="8" name="TextBox 7"/>
          <p:cNvSpPr txBox="1"/>
          <p:nvPr/>
        </p:nvSpPr>
        <p:spPr>
          <a:xfrm>
            <a:off x="548640" y="4937760"/>
            <a:ext cx="10972800" cy="457200"/>
          </a:xfrm>
          <a:prstGeom prst="rect">
            <a:avLst/>
          </a:prstGeom>
          <a:noFill/>
        </p:spPr>
        <p:txBody>
          <a:bodyPr wrap="square" anchor="t" lIns="0" rIns="0" tIns="0" bIns="0">
            <a:spAutoFit/>
          </a:bodyPr>
          <a:lstStyle/>
          <a:p>
            <a:pPr algn="l"/>
            <a:r>
              <a:rPr sz="1300" b="0">
                <a:solidFill>
                  <a:srgbClr val="C2A046"/>
                </a:solidFill>
                <a:latin typeface="Calibri"/>
              </a:rPr>
              <a:t>Business Intelligence Analyst · Microsoft Fabric and Power BI Specialist</a:t>
            </a:r>
          </a:p>
        </p:txBody>
      </p:sp>
      <p:sp>
        <p:nvSpPr>
          <p:cNvPr id="9" name="TextBox 8"/>
          <p:cNvSpPr txBox="1"/>
          <p:nvPr/>
        </p:nvSpPr>
        <p:spPr>
          <a:xfrm>
            <a:off x="548640" y="5394960"/>
            <a:ext cx="10972800" cy="457200"/>
          </a:xfrm>
          <a:prstGeom prst="rect">
            <a:avLst/>
          </a:prstGeom>
          <a:noFill/>
        </p:spPr>
        <p:txBody>
          <a:bodyPr wrap="square" anchor="t" lIns="0" rIns="0" tIns="0" bIns="0">
            <a:spAutoFit/>
          </a:bodyPr>
          <a:lstStyle/>
          <a:p>
            <a:pPr algn="l"/>
            <a:r>
              <a:rPr sz="1200" b="0">
                <a:solidFill>
                  <a:srgbClr val="F4F1EA"/>
                </a:solidFill>
                <a:latin typeface="Calibri"/>
              </a:rPr>
              <a:t>Bihbrandy15@gmail.com</a:t>
            </a:r>
          </a:p>
        </p:txBody>
      </p:sp>
      <p:sp>
        <p:nvSpPr>
          <p:cNvPr id="10" name="Rounded Rectangle 9">
            <a:hlinkClick r:id="rId2"/>
          </p:cNvPr>
          <p:cNvSpPr/>
          <p:nvPr/>
        </p:nvSpPr>
        <p:spPr>
          <a:xfrm>
            <a:off x="548640" y="5852160"/>
            <a:ext cx="3291840" cy="457200"/>
          </a:xfrm>
          <a:prstGeom prst="roundRect">
            <a:avLst/>
          </a:prstGeom>
          <a:solidFill>
            <a:srgbClr val="D9603F"/>
          </a:solidFill>
          <a:ln>
            <a:noFill/>
          </a:ln>
        </p:spPr>
        <p:style>
          <a:lnRef idx="1">
            <a:schemeClr val="accent1"/>
          </a:lnRef>
          <a:fillRef idx="3">
            <a:schemeClr val="accent1"/>
          </a:fillRef>
          <a:effectRef idx="2">
            <a:schemeClr val="accent1"/>
          </a:effectRef>
          <a:fontRef idx="minor">
            <a:schemeClr val="lt1"/>
          </a:fontRef>
        </p:style>
        <p:txBody>
          <a:bodyPr rtlCol="0" anchor="ctr" lIns="137160" rIns="137160"/>
          <a:lstStyle/>
          <a:p>
            <a:pPr algn="ctr"/>
            <a:r>
              <a:rPr sz="1200" b="1">
                <a:solidFill>
                  <a:srgbClr val="FFFFFF"/>
                </a:solidFill>
                <a:latin typeface="Calibri"/>
              </a:rPr>
              <a:t>Open live workbook on OneDrive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